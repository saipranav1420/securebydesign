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 id="272" r:id="rId16"/>
    <p:sldId id="273" r:id="rId17"/>
    <p:sldId id="278" r:id="rId18"/>
    <p:sldId id="279" r:id="rId19"/>
    <p:sldId id="274" r:id="rId20"/>
    <p:sldId id="275" r:id="rId21"/>
    <p:sldId id="276" r:id="rId22"/>
    <p:sldId id="268" r:id="rId23"/>
    <p:sldId id="269"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jEwv/oxICUZw/pS8G2tAAJE0TN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7A727E-7320-4C0F-8189-BD014B1F7B10}">
  <a:tblStyle styleId="{B37A727E-7320-4C0F-8189-BD014B1F7B10}"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1672E98-579F-4F92-A1D2-1BF1427D53E5}"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4"/>
          <p:cNvSpPr>
            <a:spLocks noGrp="1"/>
          </p:cNvSpPr>
          <p:nvPr>
            <p:ph type="pic" idx="2"/>
          </p:nvPr>
        </p:nvSpPr>
        <p:spPr>
          <a:xfrm>
            <a:off x="5183188" y="987425"/>
            <a:ext cx="6172200" cy="4873625"/>
          </a:xfrm>
          <a:prstGeom prst="rect">
            <a:avLst/>
          </a:prstGeom>
          <a:noFill/>
          <a:ln>
            <a:noFill/>
          </a:ln>
        </p:spPr>
      </p:sp>
      <p:sp>
        <p:nvSpPr>
          <p:cNvPr id="68" name="Google Shape;68;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hyperlink" Target="https://www.sciencedirect.com/author/56997358700/iqbal-h-sarker" TargetMode="External"/><Relationship Id="rId3" Type="http://schemas.openxmlformats.org/officeDocument/2006/relationships/hyperlink" Target="https://arxiv.org/abs/2411.17058" TargetMode="External"/><Relationship Id="rId7" Type="http://schemas.openxmlformats.org/officeDocument/2006/relationships/hyperlink" Target="https://ieeexplore.ieee.org/document/10143992"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hyperlink" Target="https://www.frontiersin.org/journals/computer-science/articles/10.3389/fcomp.2025.1520741/full" TargetMode="External"/><Relationship Id="rId11" Type="http://schemas.openxmlformats.org/officeDocument/2006/relationships/hyperlink" Target="https://www.sciencedirect.com/author/8313447200/leandros-a-maglaras" TargetMode="External"/><Relationship Id="rId5" Type="http://schemas.openxmlformats.org/officeDocument/2006/relationships/hyperlink" Target="https://www.sciencedirect.com/science/article/pii/S2405959524000572" TargetMode="External"/><Relationship Id="rId10" Type="http://schemas.openxmlformats.org/officeDocument/2006/relationships/hyperlink" Target="https://www.sciencedirect.com/author/53979600700/asif-qumer-gill" TargetMode="External"/><Relationship Id="rId4" Type="http://schemas.openxmlformats.org/officeDocument/2006/relationships/hyperlink" Target="https://www.sciencedirect.com/science/article/abs/pii/S0952197625001459" TargetMode="External"/><Relationship Id="rId9" Type="http://schemas.openxmlformats.org/officeDocument/2006/relationships/hyperlink" Target="https://www.sciencedirect.com/author/14028408400/helge-janicke"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semanticscholar.org/paper/Threat-Detection-and-Response-Using-AI-and-NLP-in-Ismail/ab0ec8cb1f0243270784fd00366b1345bca53262" TargetMode="External"/><Relationship Id="rId7" Type="http://schemas.openxmlformats.org/officeDocument/2006/relationships/hyperlink" Target="https://aisel.aisnet.org/amcis2025/sig_odis/sig_odis/10/"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hyperlink" Target="https://ieeexplore.ieee.org/abstract/document/9875264" TargetMode="External"/><Relationship Id="rId5" Type="http://schemas.openxmlformats.org/officeDocument/2006/relationships/hyperlink" Target="https://www.tandfonline.com/doi/full/10.1080/09540091.2024.2447373" TargetMode="External"/><Relationship Id="rId4" Type="http://schemas.openxmlformats.org/officeDocument/2006/relationships/hyperlink" Target="https://dl.acm.org/doi/abs/10.1145/37289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138952" y="127531"/>
            <a:ext cx="11914094" cy="657604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89" name="Google Shape;89;p1"/>
          <p:cNvPicPr preferRelativeResize="0"/>
          <p:nvPr/>
        </p:nvPicPr>
        <p:blipFill rotWithShape="1">
          <a:blip r:embed="rId3">
            <a:alphaModFix/>
          </a:blip>
          <a:srcRect/>
          <a:stretch/>
        </p:blipFill>
        <p:spPr>
          <a:xfrm>
            <a:off x="4334873" y="4922496"/>
            <a:ext cx="3256299" cy="925051"/>
          </a:xfrm>
          <a:prstGeom prst="rect">
            <a:avLst/>
          </a:prstGeom>
          <a:noFill/>
          <a:ln>
            <a:noFill/>
          </a:ln>
        </p:spPr>
      </p:pic>
      <p:sp>
        <p:nvSpPr>
          <p:cNvPr id="90" name="Google Shape;90;p1"/>
          <p:cNvSpPr txBox="1"/>
          <p:nvPr/>
        </p:nvSpPr>
        <p:spPr>
          <a:xfrm>
            <a:off x="687294" y="154425"/>
            <a:ext cx="10551459" cy="73558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000" b="0" i="1" u="none" strike="noStrike" cap="none">
                <a:solidFill>
                  <a:schemeClr val="dk1"/>
                </a:solidFill>
                <a:latin typeface="Times New Roman"/>
                <a:ea typeface="Times New Roman"/>
                <a:cs typeface="Times New Roman"/>
                <a:sym typeface="Times New Roman"/>
              </a:rPr>
              <a:t>Project Assessment – 1</a:t>
            </a:r>
            <a:endParaRPr/>
          </a:p>
          <a:p>
            <a:pPr marL="0" marR="0" lvl="0" indent="0" algn="ctr" rtl="0">
              <a:spcBef>
                <a:spcPts val="0"/>
              </a:spcBef>
              <a:spcAft>
                <a:spcPts val="0"/>
              </a:spcAft>
              <a:buNone/>
            </a:pPr>
            <a:r>
              <a:rPr lang="en-IN" sz="2800" b="0" i="1" u="sng" strike="noStrike" cap="none">
                <a:solidFill>
                  <a:schemeClr val="dk1"/>
                </a:solidFill>
                <a:latin typeface="Times New Roman"/>
                <a:ea typeface="Times New Roman"/>
                <a:cs typeface="Times New Roman"/>
                <a:sym typeface="Times New Roman"/>
              </a:rPr>
              <a:t>An Explainable AI-Assisted Framework for Architectural Security Risk Inference from Early-Stage Design Artifacts </a:t>
            </a:r>
            <a:endParaRPr/>
          </a:p>
          <a:p>
            <a:pPr marL="0" marR="0" lvl="0" indent="0" algn="ctr" rtl="0">
              <a:spcBef>
                <a:spcPts val="0"/>
              </a:spcBef>
              <a:spcAft>
                <a:spcPts val="0"/>
              </a:spcAft>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2000" b="1" i="1" u="sng" strike="noStrike" cap="none">
                <a:solidFill>
                  <a:schemeClr val="dk1"/>
                </a:solidFill>
                <a:latin typeface="Times New Roman"/>
                <a:ea typeface="Times New Roman"/>
                <a:cs typeface="Times New Roman"/>
                <a:sym typeface="Times New Roman"/>
              </a:rPr>
              <a:t>Presented by</a:t>
            </a:r>
            <a:endParaRPr/>
          </a:p>
          <a:p>
            <a:pPr marL="0" marR="0" lvl="0" indent="0" algn="ctr" rtl="0">
              <a:spcBef>
                <a:spcPts val="0"/>
              </a:spcBef>
              <a:spcAft>
                <a:spcPts val="0"/>
              </a:spcAft>
              <a:buNone/>
            </a:pPr>
            <a:endParaRPr sz="2000" b="1" i="1" u="sng"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2200" b="0" i="0" u="none" strike="noStrike" cap="none">
                <a:solidFill>
                  <a:schemeClr val="dk1"/>
                </a:solidFill>
                <a:latin typeface="Times New Roman"/>
                <a:ea typeface="Times New Roman"/>
                <a:cs typeface="Times New Roman"/>
                <a:sym typeface="Times New Roman"/>
              </a:rPr>
              <a:t>R. Pushkar Prabhath (AV.SC.U4CSE23135)</a:t>
            </a:r>
            <a:endParaRPr/>
          </a:p>
          <a:p>
            <a:pPr marL="0" marR="0" lvl="0" indent="0" algn="ctr" rtl="0">
              <a:spcBef>
                <a:spcPts val="0"/>
              </a:spcBef>
              <a:spcAft>
                <a:spcPts val="0"/>
              </a:spcAft>
              <a:buNone/>
            </a:pPr>
            <a:r>
              <a:rPr lang="en-IN" sz="2200" b="0" i="0" u="none" strike="noStrike" cap="none">
                <a:solidFill>
                  <a:schemeClr val="dk1"/>
                </a:solidFill>
                <a:latin typeface="Times New Roman"/>
                <a:ea typeface="Times New Roman"/>
                <a:cs typeface="Times New Roman"/>
                <a:sym typeface="Times New Roman"/>
              </a:rPr>
              <a:t>P.V.S Sai Pranav (AV.SC.U4CSE23136)</a:t>
            </a:r>
            <a:endParaRPr/>
          </a:p>
          <a:p>
            <a:pPr marL="0" marR="0" lvl="0" indent="0" algn="ctr" rtl="0">
              <a:spcBef>
                <a:spcPts val="0"/>
              </a:spcBef>
              <a:spcAft>
                <a:spcPts val="0"/>
              </a:spcAft>
              <a:buNone/>
            </a:pPr>
            <a:endParaRPr sz="2200" b="0" i="0" u="sng"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2000" b="1" i="1" u="sng" strike="noStrike" cap="none">
                <a:solidFill>
                  <a:schemeClr val="dk1"/>
                </a:solidFill>
                <a:latin typeface="Times New Roman"/>
                <a:ea typeface="Times New Roman"/>
                <a:cs typeface="Times New Roman"/>
                <a:sym typeface="Times New Roman"/>
              </a:rPr>
              <a:t>Under the Supervision of </a:t>
            </a:r>
            <a:endParaRPr/>
          </a:p>
          <a:p>
            <a:pPr marL="0" marR="0" lvl="0" indent="0" algn="ctr" rtl="0">
              <a:spcBef>
                <a:spcPts val="0"/>
              </a:spcBef>
              <a:spcAft>
                <a:spcPts val="0"/>
              </a:spcAft>
              <a:buNone/>
            </a:pPr>
            <a:endParaRPr sz="2000" b="1" i="1" u="sng"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2400" b="1" i="0" u="none" strike="noStrike" cap="none">
                <a:solidFill>
                  <a:schemeClr val="dk1"/>
                </a:solidFill>
                <a:latin typeface="Times New Roman"/>
                <a:ea typeface="Times New Roman"/>
                <a:cs typeface="Times New Roman"/>
                <a:sym typeface="Times New Roman"/>
              </a:rPr>
              <a:t>Mr. Dontha MadhuSudhana Rao </a:t>
            </a:r>
            <a:endParaRPr/>
          </a:p>
          <a:p>
            <a:pPr marL="0" marR="0" lvl="0" indent="0" algn="ctr" rtl="0">
              <a:spcBef>
                <a:spcPts val="0"/>
              </a:spcBef>
              <a:spcAft>
                <a:spcPts val="0"/>
              </a:spcAft>
              <a:buNone/>
            </a:pPr>
            <a:r>
              <a:rPr lang="en-IN" sz="2200" b="0" i="1" u="none" strike="noStrike" cap="none">
                <a:solidFill>
                  <a:schemeClr val="dk1"/>
                </a:solidFill>
                <a:latin typeface="Times New Roman"/>
                <a:ea typeface="Times New Roman"/>
                <a:cs typeface="Times New Roman"/>
                <a:sym typeface="Times New Roman"/>
              </a:rPr>
              <a:t>Assistant Professor(Senior-Grade)</a:t>
            </a:r>
            <a:endParaRPr/>
          </a:p>
          <a:p>
            <a:pPr marL="0" marR="0" lvl="0" indent="0" algn="ctr" rtl="0">
              <a:spcBef>
                <a:spcPts val="0"/>
              </a:spcBef>
              <a:spcAft>
                <a:spcPts val="0"/>
              </a:spcAft>
              <a:buNone/>
            </a:pPr>
            <a:endParaRPr sz="2200" b="0"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200" b="0"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200" b="0"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200" b="0"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2200" b="0" i="0" u="none" strike="noStrike" cap="none">
                <a:solidFill>
                  <a:schemeClr val="dk1"/>
                </a:solidFill>
                <a:latin typeface="Times New Roman"/>
                <a:ea typeface="Times New Roman"/>
                <a:cs typeface="Times New Roman"/>
                <a:sym typeface="Times New Roman"/>
              </a:rPr>
              <a:t>Department of Computer Science</a:t>
            </a:r>
            <a:endParaRPr/>
          </a:p>
          <a:p>
            <a:pPr marL="0" marR="0" lvl="0" indent="0" algn="ctr" rtl="0">
              <a:spcBef>
                <a:spcPts val="0"/>
              </a:spcBef>
              <a:spcAft>
                <a:spcPts val="0"/>
              </a:spcAft>
              <a:buNone/>
            </a:pPr>
            <a:r>
              <a:rPr lang="en-IN" sz="2200" b="0" i="0" u="none" strike="noStrike" cap="none">
                <a:solidFill>
                  <a:schemeClr val="dk1"/>
                </a:solidFill>
                <a:latin typeface="Times New Roman"/>
                <a:ea typeface="Times New Roman"/>
                <a:cs typeface="Times New Roman"/>
                <a:sym typeface="Times New Roman"/>
              </a:rPr>
              <a:t>Amrita Vishwa Vidyapeetham, Amaravati</a:t>
            </a:r>
            <a:endParaRPr/>
          </a:p>
          <a:p>
            <a:pPr marL="0" marR="0" lvl="0" indent="0" algn="ctr" rtl="0">
              <a:spcBef>
                <a:spcPts val="0"/>
              </a:spcBef>
              <a:spcAft>
                <a:spcPts val="0"/>
              </a:spcAft>
              <a:buNone/>
            </a:pPr>
            <a:endParaRPr sz="2200" b="0"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p:nvPr/>
        </p:nvSpPr>
        <p:spPr>
          <a:xfrm>
            <a:off x="751840" y="1473200"/>
            <a:ext cx="5567680" cy="495520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Introduction:</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Literature Survey</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Summary (Based on Literature Survey):</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Research Gap</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Motivation</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Problem Statement </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Dataset Description</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Pre-Processing</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Methodology </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Architecture</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Results</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Comparative Analysis</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Conclusion</a:t>
            </a:r>
            <a:endParaRPr/>
          </a:p>
          <a:p>
            <a:pPr marL="342900" marR="0" lvl="0" indent="-342900" algn="l" rtl="0">
              <a:spcBef>
                <a:spcPts val="0"/>
              </a:spcBef>
              <a:spcAft>
                <a:spcPts val="0"/>
              </a:spcAft>
              <a:buClr>
                <a:schemeClr val="dk1"/>
              </a:buClr>
              <a:buSzPts val="2000"/>
              <a:buFont typeface="Noto Sans Symbols"/>
              <a:buChar char="❑"/>
            </a:pPr>
            <a:r>
              <a:rPr lang="en-IN" sz="2000" b="0" i="0" u="none" strike="noStrike" cap="none">
                <a:solidFill>
                  <a:schemeClr val="dk1"/>
                </a:solidFill>
                <a:latin typeface="Times New Roman"/>
                <a:ea typeface="Times New Roman"/>
                <a:cs typeface="Times New Roman"/>
                <a:sym typeface="Times New Roman"/>
              </a:rPr>
              <a:t>References (Include citations)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2"/>
          <p:cNvSpPr/>
          <p:nvPr/>
        </p:nvSpPr>
        <p:spPr>
          <a:xfrm>
            <a:off x="228600" y="176014"/>
            <a:ext cx="11711354" cy="6330294"/>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2"/>
          <p:cNvSpPr txBox="1"/>
          <p:nvPr/>
        </p:nvSpPr>
        <p:spPr>
          <a:xfrm>
            <a:off x="1905072" y="176014"/>
            <a:ext cx="6096000"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400" b="1">
                <a:solidFill>
                  <a:schemeClr val="dk1"/>
                </a:solidFill>
                <a:latin typeface="Times New Roman"/>
                <a:ea typeface="Times New Roman"/>
                <a:cs typeface="Times New Roman"/>
                <a:sym typeface="Times New Roman"/>
              </a:rPr>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501502" y="241078"/>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Times New Roman"/>
              <a:buNone/>
            </a:pPr>
            <a:br>
              <a:rPr lang="en-IN">
                <a:latin typeface="Times New Roman"/>
                <a:ea typeface="Times New Roman"/>
                <a:cs typeface="Times New Roman"/>
                <a:sym typeface="Times New Roman"/>
              </a:rPr>
            </a:br>
            <a:r>
              <a:rPr lang="en-IN">
                <a:latin typeface="Times New Roman"/>
                <a:ea typeface="Times New Roman"/>
                <a:cs typeface="Times New Roman"/>
                <a:sym typeface="Times New Roman"/>
              </a:rPr>
              <a:t>  Introduction</a:t>
            </a:r>
            <a:br>
              <a:rPr lang="en-IN">
                <a:latin typeface="Times New Roman"/>
                <a:ea typeface="Times New Roman"/>
                <a:cs typeface="Times New Roman"/>
                <a:sym typeface="Times New Roman"/>
              </a:rPr>
            </a:br>
            <a:endParaRPr/>
          </a:p>
        </p:txBody>
      </p:sp>
      <p:sp>
        <p:nvSpPr>
          <p:cNvPr id="103" name="Google Shape;103;p3"/>
          <p:cNvSpPr/>
          <p:nvPr/>
        </p:nvSpPr>
        <p:spPr>
          <a:xfrm>
            <a:off x="203336" y="316897"/>
            <a:ext cx="11641016" cy="6062052"/>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457200" marR="0" lvl="1"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3"/>
          <p:cNvSpPr txBox="1"/>
          <p:nvPr/>
        </p:nvSpPr>
        <p:spPr>
          <a:xfrm>
            <a:off x="7144118" y="5226848"/>
            <a:ext cx="42096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i="1">
              <a:solidFill>
                <a:schemeClr val="dk1"/>
              </a:solidFill>
              <a:latin typeface="Calibri"/>
              <a:ea typeface="Calibri"/>
              <a:cs typeface="Calibri"/>
              <a:sym typeface="Calibri"/>
            </a:endParaRPr>
          </a:p>
        </p:txBody>
      </p:sp>
      <p:sp>
        <p:nvSpPr>
          <p:cNvPr id="105" name="Google Shape;105;p3"/>
          <p:cNvSpPr txBox="1"/>
          <p:nvPr/>
        </p:nvSpPr>
        <p:spPr>
          <a:xfrm>
            <a:off x="506159" y="1316538"/>
            <a:ext cx="7017587" cy="44319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200">
              <a:solidFill>
                <a:srgbClr val="FFFFFF"/>
              </a:solidFill>
              <a:highlight>
                <a:srgbClr val="212121"/>
              </a:highlight>
              <a:latin typeface="Calibri"/>
              <a:ea typeface="Calibri"/>
              <a:cs typeface="Calibri"/>
              <a:sym typeface="Calibri"/>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Modern software systems are increasingly complex, distributed, and security‑critical. Many security failures originate not from coding mistakes but from architectural design flaws introduced very early in the software lifecycle. Unfortunately, traditional security analysis techniques are either:</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Performed too late (after implementation), or</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Manual and expert-driven, making them costly and error‑prone.</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This project proposes an AI-assisted architectural security reasoning system that analyzes early-stage software design artifacts—primarily Data Flow Diagrams (DFDs) and lightweight security intent descriptions—to infer potential security risks, threat exposures, and missing controls.</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The system is not a vulnerability scanner. Instead, it acts as a design-time security reasoning assistant, helping architects and developers make secure-by-design decisions under partial information.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6189" y="-34841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Literature Survey</a:t>
            </a:r>
            <a:endParaRPr/>
          </a:p>
        </p:txBody>
      </p:sp>
      <p:graphicFrame>
        <p:nvGraphicFramePr>
          <p:cNvPr id="111" name="Google Shape;111;p4"/>
          <p:cNvGraphicFramePr/>
          <p:nvPr>
            <p:extLst>
              <p:ext uri="{D42A27DB-BD31-4B8C-83A1-F6EECF244321}">
                <p14:modId xmlns:p14="http://schemas.microsoft.com/office/powerpoint/2010/main" val="3422649108"/>
              </p:ext>
            </p:extLst>
          </p:nvPr>
        </p:nvGraphicFramePr>
        <p:xfrm>
          <a:off x="210929" y="717957"/>
          <a:ext cx="11559100" cy="6129540"/>
        </p:xfrm>
        <a:graphic>
          <a:graphicData uri="http://schemas.openxmlformats.org/drawingml/2006/table">
            <a:tbl>
              <a:tblPr firstRow="1" bandRow="1">
                <a:noFill/>
                <a:tableStyleId>{B37A727E-7320-4C0F-8189-BD014B1F7B10}</a:tableStyleId>
              </a:tblPr>
              <a:tblGrid>
                <a:gridCol w="1042325">
                  <a:extLst>
                    <a:ext uri="{9D8B030D-6E8A-4147-A177-3AD203B41FA5}">
                      <a16:colId xmlns:a16="http://schemas.microsoft.com/office/drawing/2014/main" val="20000"/>
                    </a:ext>
                  </a:extLst>
                </a:gridCol>
                <a:gridCol w="1657250">
                  <a:extLst>
                    <a:ext uri="{9D8B030D-6E8A-4147-A177-3AD203B41FA5}">
                      <a16:colId xmlns:a16="http://schemas.microsoft.com/office/drawing/2014/main" val="20001"/>
                    </a:ext>
                  </a:extLst>
                </a:gridCol>
                <a:gridCol w="1910075">
                  <a:extLst>
                    <a:ext uri="{9D8B030D-6E8A-4147-A177-3AD203B41FA5}">
                      <a16:colId xmlns:a16="http://schemas.microsoft.com/office/drawing/2014/main" val="20002"/>
                    </a:ext>
                  </a:extLst>
                </a:gridCol>
                <a:gridCol w="2073800">
                  <a:extLst>
                    <a:ext uri="{9D8B030D-6E8A-4147-A177-3AD203B41FA5}">
                      <a16:colId xmlns:a16="http://schemas.microsoft.com/office/drawing/2014/main" val="20003"/>
                    </a:ext>
                  </a:extLst>
                </a:gridCol>
                <a:gridCol w="2604700">
                  <a:extLst>
                    <a:ext uri="{9D8B030D-6E8A-4147-A177-3AD203B41FA5}">
                      <a16:colId xmlns:a16="http://schemas.microsoft.com/office/drawing/2014/main" val="20004"/>
                    </a:ext>
                  </a:extLst>
                </a:gridCol>
                <a:gridCol w="2270950">
                  <a:extLst>
                    <a:ext uri="{9D8B030D-6E8A-4147-A177-3AD203B41FA5}">
                      <a16:colId xmlns:a16="http://schemas.microsoft.com/office/drawing/2014/main" val="20005"/>
                    </a:ext>
                  </a:extLst>
                </a:gridCol>
              </a:tblGrid>
              <a:tr h="980950">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REF.No</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Author(s)/Year</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Dataset</a:t>
                      </a:r>
                      <a:endParaRPr/>
                    </a:p>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(Name/sample sizes)</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Methodology</a:t>
                      </a:r>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Performance metrices</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Limitations</a:t>
                      </a:r>
                      <a:endParaRPr/>
                    </a:p>
                  </a:txBody>
                  <a:tcPr marL="91450" marR="91450" marT="45725" marB="45725" anchor="ctr"/>
                </a:tc>
                <a:extLst>
                  <a:ext uri="{0D108BD9-81ED-4DB2-BD59-A6C34878D82A}">
                    <a16:rowId xmlns:a16="http://schemas.microsoft.com/office/drawing/2014/main" val="10000"/>
                  </a:ext>
                </a:extLst>
              </a:tr>
              <a:tr h="1532050">
                <a:tc>
                  <a:txBody>
                    <a:bodyPr/>
                    <a:lstStyle/>
                    <a:p>
                      <a:pPr marL="0" marR="0" lvl="0" indent="0" algn="l" rtl="0">
                        <a:spcBef>
                          <a:spcPts val="0"/>
                        </a:spcBef>
                        <a:spcAft>
                          <a:spcPts val="0"/>
                        </a:spcAft>
                        <a:buNone/>
                      </a:pPr>
                      <a:endParaRPr sz="1600" u="none" strike="noStrike" cap="none">
                        <a:latin typeface="Times New Roman"/>
                        <a:ea typeface="Times New Roman"/>
                        <a:cs typeface="Times New Roman"/>
                        <a:sym typeface="Times New Roman"/>
                      </a:endParaRPr>
                    </a:p>
                    <a:p>
                      <a:pPr marL="0" marR="0" lvl="0" indent="0" algn="l" rtl="0">
                        <a:spcBef>
                          <a:spcPts val="0"/>
                        </a:spcBef>
                        <a:spcAft>
                          <a:spcPts val="0"/>
                        </a:spcAft>
                        <a:buNone/>
                      </a:pPr>
                      <a:r>
                        <a:rPr lang="en-IN" sz="1600" u="none" strike="noStrike" cap="none">
                          <a:latin typeface="Times New Roman"/>
                          <a:ea typeface="Times New Roman"/>
                          <a:cs typeface="Times New Roman"/>
                          <a:sym typeface="Times New Roman"/>
                        </a:rPr>
                        <a:t>Ref 1</a:t>
                      </a:r>
                      <a:endParaRPr sz="16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dirty="0"/>
                        <a:t>S. Yang, T. Wu, S. Liu, D. Nguyen, S. I. Jang, A. </a:t>
                      </a:r>
                      <a:r>
                        <a:rPr lang="en-IN" sz="1800" dirty="0" err="1"/>
                        <a:t>Abuadbba</a:t>
                      </a:r>
                      <a:r>
                        <a:rPr lang="en-IN" sz="1800" dirty="0"/>
                        <a:t> (2024) </a:t>
                      </a:r>
                      <a:r>
                        <a:rPr lang="en-IN" sz="1800" dirty="0">
                          <a:latin typeface="Times New Roman" panose="02020603050405020304" pitchFamily="18" charset="0"/>
                          <a:cs typeface="Times New Roman" panose="02020603050405020304" pitchFamily="18" charset="0"/>
                        </a:rPr>
                        <a:t>(</a:t>
                      </a:r>
                      <a:r>
                        <a:rPr lang="en-IN" sz="1800" b="1" dirty="0">
                          <a:latin typeface="Times New Roman" panose="02020603050405020304" pitchFamily="18" charset="0"/>
                          <a:cs typeface="Times New Roman" panose="02020603050405020304" pitchFamily="18" charset="0"/>
                        </a:rPr>
                        <a:t>BASE PAPER)</a:t>
                      </a:r>
                      <a:endParaRPr sz="1600" b="1"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b="0" i="0" u="none" strike="noStrike" cap="none">
                          <a:solidFill>
                            <a:schemeClr val="dk1"/>
                          </a:solidFill>
                          <a:latin typeface="Calibri"/>
                          <a:ea typeface="Calibri"/>
                          <a:cs typeface="Calibri"/>
                          <a:sym typeface="Calibri"/>
                        </a:rPr>
                        <a:t>Microsoft TMT XML (100+ banking DFDs)</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b="0" i="0" u="none" strike="noStrike" cap="none">
                          <a:solidFill>
                            <a:schemeClr val="dk1"/>
                          </a:solidFill>
                          <a:latin typeface="Calibri"/>
                          <a:ea typeface="Calibri"/>
                          <a:cs typeface="Calibri"/>
                          <a:sym typeface="Calibri"/>
                        </a:rPr>
                        <a:t>ThreatModeling-LLM: LLM fine-tuning on DFD→STRIDE</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b="0" i="0" u="none" strike="noStrike" cap="none">
                          <a:solidFill>
                            <a:schemeClr val="dk1"/>
                          </a:solidFill>
                          <a:latin typeface="Calibri"/>
                          <a:ea typeface="Calibri"/>
                          <a:cs typeface="Calibri"/>
                          <a:sym typeface="Calibri"/>
                        </a:rPr>
                        <a:t>92% threat enumeration accuracy</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b="0" i="0" u="none" strike="noStrike" cap="none">
                          <a:solidFill>
                            <a:schemeClr val="dk1"/>
                          </a:solidFill>
                          <a:latin typeface="Calibri"/>
                          <a:ea typeface="Calibri"/>
                          <a:cs typeface="Calibri"/>
                          <a:sym typeface="Calibri"/>
                        </a:rPr>
                        <a:t>Banking domain bias</a:t>
                      </a:r>
                      <a:endParaRPr sz="1200" b="0" i="0" u="none" strike="noStrike" cap="none">
                        <a:solidFill>
                          <a:srgbClr val="FFFFFF"/>
                        </a:solidFill>
                        <a:highlight>
                          <a:srgbClr val="212121"/>
                        </a:highlight>
                      </a:endParaRPr>
                    </a:p>
                  </a:txBody>
                  <a:tcPr marL="91450" marR="91450" marT="45725" marB="45725" anchor="ctr"/>
                </a:tc>
                <a:extLst>
                  <a:ext uri="{0D108BD9-81ED-4DB2-BD59-A6C34878D82A}">
                    <a16:rowId xmlns:a16="http://schemas.microsoft.com/office/drawing/2014/main" val="10001"/>
                  </a:ext>
                </a:extLst>
              </a:tr>
              <a:tr h="1461550">
                <a:tc>
                  <a:txBody>
                    <a:bodyPr/>
                    <a:lstStyle/>
                    <a:p>
                      <a:pPr marL="0" marR="0" lvl="0" indent="0" algn="l" rtl="0">
                        <a:spcBef>
                          <a:spcPts val="0"/>
                        </a:spcBef>
                        <a:spcAft>
                          <a:spcPts val="0"/>
                        </a:spcAft>
                        <a:buNone/>
                      </a:pPr>
                      <a:r>
                        <a:rPr lang="en-IN" sz="1600" u="none" strike="noStrike" cap="none">
                          <a:latin typeface="Times New Roman"/>
                          <a:ea typeface="Times New Roman"/>
                          <a:cs typeface="Times New Roman"/>
                          <a:sym typeface="Times New Roman"/>
                        </a:rPr>
                        <a:t>Ref 2</a:t>
                      </a:r>
                      <a:endParaRPr sz="16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dirty="0"/>
                        <a:t>N. S. Alghamdi, K. </a:t>
                      </a:r>
                      <a:r>
                        <a:rPr lang="en-IN" sz="1800" dirty="0" err="1"/>
                        <a:t>Alsubhi</a:t>
                      </a:r>
                      <a:r>
                        <a:rPr lang="en-IN" sz="1800" dirty="0"/>
                        <a:t>, A. A. Alahmadi (2025)</a:t>
                      </a:r>
                      <a:endParaRPr sz="1400" u="none" strike="noStrike" cap="none" dirty="0">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b="0" i="0" u="none" strike="noStrike" cap="none">
                          <a:solidFill>
                            <a:schemeClr val="dk1"/>
                          </a:solidFill>
                          <a:latin typeface="Calibri"/>
                          <a:ea typeface="Calibri"/>
                          <a:cs typeface="Calibri"/>
                          <a:sym typeface="Calibri"/>
                        </a:rPr>
                        <a:t>UNSW-NB15 (2.5M network flows)</a:t>
                      </a:r>
                      <a:endParaRPr sz="1400" b="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SHAP/LIME/Grad-CAM hybrid IDS XAI</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95% accuracy, 38%↑ analyst comprehension</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b="0" i="0" u="none" strike="noStrike" cap="none">
                          <a:solidFill>
                            <a:schemeClr val="dk1"/>
                          </a:solidFill>
                          <a:latin typeface="Calibri"/>
                          <a:ea typeface="Calibri"/>
                          <a:cs typeface="Calibri"/>
                          <a:sym typeface="Calibri"/>
                        </a:rPr>
                        <a:t>Network-focused</a:t>
                      </a:r>
                      <a:endParaRPr sz="18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675350">
                <a:tc>
                  <a:txBody>
                    <a:bodyPr/>
                    <a:lstStyle/>
                    <a:p>
                      <a:pPr marL="0" marR="0" lvl="0" indent="0" algn="l" rtl="0">
                        <a:spcBef>
                          <a:spcPts val="0"/>
                        </a:spcBef>
                        <a:spcAft>
                          <a:spcPts val="0"/>
                        </a:spcAft>
                        <a:buNone/>
                      </a:pPr>
                      <a:r>
                        <a:rPr lang="en-IN" sz="1600" u="none" strike="noStrike" cap="none">
                          <a:latin typeface="Times New Roman"/>
                          <a:ea typeface="Times New Roman"/>
                          <a:cs typeface="Times New Roman"/>
                          <a:sym typeface="Times New Roman"/>
                        </a:rPr>
                        <a:t>Ref 3</a:t>
                      </a:r>
                      <a:endParaRPr sz="16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a:t>Iqbal H. S. Janicke, Ahmad M., A. Gill, L. Maglaras (2024)</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r>
                        <a:rPr lang="en-IN" sz="1800" b="0" i="0" u="none" strike="noStrike" cap="none">
                          <a:solidFill>
                            <a:schemeClr val="dk1"/>
                          </a:solidFill>
                          <a:latin typeface="Calibri"/>
                          <a:ea typeface="Calibri"/>
                          <a:cs typeface="Calibri"/>
                          <a:sym typeface="Calibri"/>
                        </a:rPr>
                        <a:t>MITRE ATT&amp;CK + CVE (200K+ records)</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Model-agnostic XAI taxonomy for cybersecurity</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87% decision transparency</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endParaRPr sz="1400" b="0" i="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endParaRPr sz="14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dirty="0">
                          <a:solidFill>
                            <a:schemeClr val="dk1"/>
                          </a:solidFill>
                          <a:latin typeface="Calibri"/>
                          <a:ea typeface="Calibri"/>
                          <a:cs typeface="Calibri"/>
                          <a:sym typeface="Calibri"/>
                        </a:rPr>
                        <a:t>Model gaps</a:t>
                      </a:r>
                      <a:endParaRPr sz="1400" b="0" i="0" u="none" strike="noStrike" cap="none" dirty="0"/>
                    </a:p>
                    <a:p>
                      <a:pPr marL="0" marR="0" lvl="0" indent="0" algn="l" rtl="0">
                        <a:spcBef>
                          <a:spcPts val="0"/>
                        </a:spcBef>
                        <a:spcAft>
                          <a:spcPts val="0"/>
                        </a:spcAft>
                        <a:buClr>
                          <a:schemeClr val="dk1"/>
                        </a:buClr>
                        <a:buSzPts val="1400"/>
                        <a:buFont typeface="Calibri"/>
                        <a:buNone/>
                      </a:pPr>
                      <a:endParaRPr sz="1400" u="none" strike="noStrike" cap="none" dirty="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a:spLocks noGrp="1"/>
          </p:cNvSpPr>
          <p:nvPr>
            <p:ph type="title"/>
          </p:nvPr>
        </p:nvSpPr>
        <p:spPr>
          <a:xfrm>
            <a:off x="131921" y="-34841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Literature Survey</a:t>
            </a:r>
            <a:endParaRPr/>
          </a:p>
        </p:txBody>
      </p:sp>
      <p:graphicFrame>
        <p:nvGraphicFramePr>
          <p:cNvPr id="117" name="Google Shape;117;p5"/>
          <p:cNvGraphicFramePr/>
          <p:nvPr/>
        </p:nvGraphicFramePr>
        <p:xfrm>
          <a:off x="318303" y="704126"/>
          <a:ext cx="11560500" cy="5864110"/>
        </p:xfrm>
        <a:graphic>
          <a:graphicData uri="http://schemas.openxmlformats.org/drawingml/2006/table">
            <a:tbl>
              <a:tblPr firstRow="1" bandRow="1">
                <a:noFill/>
                <a:tableStyleId>{B37A727E-7320-4C0F-8189-BD014B1F7B10}</a:tableStyleId>
              </a:tblPr>
              <a:tblGrid>
                <a:gridCol w="1048950">
                  <a:extLst>
                    <a:ext uri="{9D8B030D-6E8A-4147-A177-3AD203B41FA5}">
                      <a16:colId xmlns:a16="http://schemas.microsoft.com/office/drawing/2014/main" val="20000"/>
                    </a:ext>
                  </a:extLst>
                </a:gridCol>
                <a:gridCol w="1652050">
                  <a:extLst>
                    <a:ext uri="{9D8B030D-6E8A-4147-A177-3AD203B41FA5}">
                      <a16:colId xmlns:a16="http://schemas.microsoft.com/office/drawing/2014/main" val="20001"/>
                    </a:ext>
                  </a:extLst>
                </a:gridCol>
                <a:gridCol w="1910075">
                  <a:extLst>
                    <a:ext uri="{9D8B030D-6E8A-4147-A177-3AD203B41FA5}">
                      <a16:colId xmlns:a16="http://schemas.microsoft.com/office/drawing/2014/main" val="20002"/>
                    </a:ext>
                  </a:extLst>
                </a:gridCol>
                <a:gridCol w="2218475">
                  <a:extLst>
                    <a:ext uri="{9D8B030D-6E8A-4147-A177-3AD203B41FA5}">
                      <a16:colId xmlns:a16="http://schemas.microsoft.com/office/drawing/2014/main" val="20003"/>
                    </a:ext>
                  </a:extLst>
                </a:gridCol>
                <a:gridCol w="2460000">
                  <a:extLst>
                    <a:ext uri="{9D8B030D-6E8A-4147-A177-3AD203B41FA5}">
                      <a16:colId xmlns:a16="http://schemas.microsoft.com/office/drawing/2014/main" val="20004"/>
                    </a:ext>
                  </a:extLst>
                </a:gridCol>
                <a:gridCol w="2270950">
                  <a:extLst>
                    <a:ext uri="{9D8B030D-6E8A-4147-A177-3AD203B41FA5}">
                      <a16:colId xmlns:a16="http://schemas.microsoft.com/office/drawing/2014/main" val="20005"/>
                    </a:ext>
                  </a:extLst>
                </a:gridCol>
              </a:tblGrid>
              <a:tr h="835800">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REF.No</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Author(s)/Year</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Dataset</a:t>
                      </a:r>
                      <a:endParaRPr/>
                    </a:p>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(Name/sample sizes)</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Methodology</a:t>
                      </a:r>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Performance metrices</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Limitations</a:t>
                      </a:r>
                      <a:endParaRPr/>
                    </a:p>
                  </a:txBody>
                  <a:tcPr marL="91450" marR="91450" marT="45725" marB="45725" anchor="ctr"/>
                </a:tc>
                <a:extLst>
                  <a:ext uri="{0D108BD9-81ED-4DB2-BD59-A6C34878D82A}">
                    <a16:rowId xmlns:a16="http://schemas.microsoft.com/office/drawing/2014/main" val="10000"/>
                  </a:ext>
                </a:extLst>
              </a:tr>
              <a:tr h="16499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solidFill>
                            <a:schemeClr val="dk1"/>
                          </a:solidFill>
                          <a:latin typeface="Times New Roman"/>
                          <a:ea typeface="Times New Roman"/>
                          <a:cs typeface="Times New Roman"/>
                          <a:sym typeface="Times New Roman"/>
                        </a:rPr>
                        <a:t>Ref 4</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a:t>Vincent Zibi Mohale, I. C. Obagbuwa (2025)</a:t>
                      </a:r>
                      <a:endParaRPr sz="140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CTU-13 (1K+ botnet flows → service graphs)</a:t>
                      </a:r>
                      <a:endParaRPr sz="140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GAT multi-head attention + GCN message-passing for DFD topology reasoning</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91% topology accuracy, 88% attack path F1, 0.93 AUC-ROC</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Poor scaling &gt;100 components, assumes complete graphs</a:t>
                      </a:r>
                      <a:endParaRPr sz="18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649900">
                <a:tc>
                  <a:txBody>
                    <a:bodyPr/>
                    <a:lstStyle/>
                    <a:p>
                      <a:pPr marL="0" marR="0" lvl="0" indent="0" algn="l" rtl="0">
                        <a:spcBef>
                          <a:spcPts val="0"/>
                        </a:spcBef>
                        <a:spcAft>
                          <a:spcPts val="0"/>
                        </a:spcAft>
                        <a:buClr>
                          <a:schemeClr val="dk1"/>
                        </a:buClr>
                        <a:buSzPts val="1600"/>
                        <a:buFont typeface="Calibri"/>
                        <a:buNone/>
                      </a:pPr>
                      <a:endParaRPr sz="16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Ref 5</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Clr>
                          <a:schemeClr val="dk1"/>
                        </a:buClr>
                        <a:buSzPts val="1800"/>
                        <a:buFont typeface="Calibri"/>
                        <a:buNone/>
                      </a:pPr>
                      <a:r>
                        <a:rPr lang="en-IN" sz="1800"/>
                        <a:t>G. Rjoub, J. Bentahar, O. A. Wahab (2023)</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10K cyber docs (TF-IDF + BERT embeddings)</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5-level XAI maturity model + LIME/SHAP/rule extraction automation</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85% accuracy-interpretability balance, 65% model size reduction</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Lab-only evaluation, no maturity thresholds</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6499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Ref 6</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a:t>W. S. Ismail et al(2024)</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5K threat reports (IOCs, TTPs, actors annotated)</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BERT NER + GlobalPointer relation extraction → threat KG construction</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92% entity F1 (IP:95%, TTP:90%), 87% relations, 10x faster</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English-only, degrades on poor text quality</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6"/>
          <p:cNvSpPr txBox="1">
            <a:spLocks noGrp="1"/>
          </p:cNvSpPr>
          <p:nvPr>
            <p:ph type="title"/>
          </p:nvPr>
        </p:nvSpPr>
        <p:spPr>
          <a:xfrm>
            <a:off x="142081" y="-27277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Literature Survey</a:t>
            </a:r>
            <a:endParaRPr/>
          </a:p>
        </p:txBody>
      </p:sp>
      <p:graphicFrame>
        <p:nvGraphicFramePr>
          <p:cNvPr id="123" name="Google Shape;123;p6"/>
          <p:cNvGraphicFramePr/>
          <p:nvPr/>
        </p:nvGraphicFramePr>
        <p:xfrm>
          <a:off x="139184" y="686057"/>
          <a:ext cx="11890725" cy="6009750"/>
        </p:xfrm>
        <a:graphic>
          <a:graphicData uri="http://schemas.openxmlformats.org/drawingml/2006/table">
            <a:tbl>
              <a:tblPr firstRow="1" bandRow="1">
                <a:noFill/>
                <a:tableStyleId>{B37A727E-7320-4C0F-8189-BD014B1F7B10}</a:tableStyleId>
              </a:tblPr>
              <a:tblGrid>
                <a:gridCol w="1059825">
                  <a:extLst>
                    <a:ext uri="{9D8B030D-6E8A-4147-A177-3AD203B41FA5}">
                      <a16:colId xmlns:a16="http://schemas.microsoft.com/office/drawing/2014/main" val="20000"/>
                    </a:ext>
                  </a:extLst>
                </a:gridCol>
                <a:gridCol w="1475700">
                  <a:extLst>
                    <a:ext uri="{9D8B030D-6E8A-4147-A177-3AD203B41FA5}">
                      <a16:colId xmlns:a16="http://schemas.microsoft.com/office/drawing/2014/main" val="20001"/>
                    </a:ext>
                  </a:extLst>
                </a:gridCol>
                <a:gridCol w="2243450">
                  <a:extLst>
                    <a:ext uri="{9D8B030D-6E8A-4147-A177-3AD203B41FA5}">
                      <a16:colId xmlns:a16="http://schemas.microsoft.com/office/drawing/2014/main" val="20002"/>
                    </a:ext>
                  </a:extLst>
                </a:gridCol>
                <a:gridCol w="2522100">
                  <a:extLst>
                    <a:ext uri="{9D8B030D-6E8A-4147-A177-3AD203B41FA5}">
                      <a16:colId xmlns:a16="http://schemas.microsoft.com/office/drawing/2014/main" val="20003"/>
                    </a:ext>
                  </a:extLst>
                </a:gridCol>
                <a:gridCol w="2406450">
                  <a:extLst>
                    <a:ext uri="{9D8B030D-6E8A-4147-A177-3AD203B41FA5}">
                      <a16:colId xmlns:a16="http://schemas.microsoft.com/office/drawing/2014/main" val="20004"/>
                    </a:ext>
                  </a:extLst>
                </a:gridCol>
                <a:gridCol w="2183200">
                  <a:extLst>
                    <a:ext uri="{9D8B030D-6E8A-4147-A177-3AD203B41FA5}">
                      <a16:colId xmlns:a16="http://schemas.microsoft.com/office/drawing/2014/main" val="20005"/>
                    </a:ext>
                  </a:extLst>
                </a:gridCol>
              </a:tblGrid>
              <a:tr h="878850">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REF.No</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Author(s)/Year</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Dataset</a:t>
                      </a:r>
                      <a:endParaRPr/>
                    </a:p>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(Name/sample sizes)</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Methodology</a:t>
                      </a:r>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Performance metrices</a:t>
                      </a:r>
                      <a:endParaRPr/>
                    </a:p>
                  </a:txBody>
                  <a:tcPr marL="91450" marR="91450" marT="45725" marB="45725" anchor="ctr"/>
                </a:tc>
                <a:tc>
                  <a:txBody>
                    <a:bodyPr/>
                    <a:lstStyle/>
                    <a:p>
                      <a:pPr marL="0" marR="0" lvl="0" indent="0" algn="l" rtl="0">
                        <a:spcBef>
                          <a:spcPts val="0"/>
                        </a:spcBef>
                        <a:spcAft>
                          <a:spcPts val="0"/>
                        </a:spcAft>
                        <a:buNone/>
                      </a:pPr>
                      <a:r>
                        <a:rPr lang="en-IN" sz="1800" b="1" u="none" strike="noStrike" cap="none">
                          <a:latin typeface="Times New Roman"/>
                          <a:ea typeface="Times New Roman"/>
                          <a:cs typeface="Times New Roman"/>
                          <a:sym typeface="Times New Roman"/>
                        </a:rPr>
                        <a:t>Limitations</a:t>
                      </a:r>
                      <a:endParaRPr/>
                    </a:p>
                  </a:txBody>
                  <a:tcPr marL="91450" marR="91450" marT="45725" marB="45725" anchor="ctr"/>
                </a:tc>
                <a:extLst>
                  <a:ext uri="{0D108BD9-81ED-4DB2-BD59-A6C34878D82A}">
                    <a16:rowId xmlns:a16="http://schemas.microsoft.com/office/drawing/2014/main" val="10000"/>
                  </a:ext>
                </a:extLst>
              </a:tr>
              <a:tr h="15509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Ref 7</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a:t>B. Wu, Chengjie Liu, Zhiming Li (2025)</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UNSW-NB15 + CICIDS2017 (4M flows, 6 attack types)</a:t>
                      </a:r>
                      <a:endParaRPr sz="1400" b="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Rule preprocess + XGBoost + rule extraction + SHAP validation</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89% rule fidelity, 94% accuracy, 0.92 F1-score</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2x inference overhead, weak on non-linear boundaries</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52505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solidFill>
                            <a:schemeClr val="dk1"/>
                          </a:solidFill>
                          <a:latin typeface="Times New Roman"/>
                          <a:ea typeface="Times New Roman"/>
                          <a:cs typeface="Times New Roman"/>
                          <a:sym typeface="Times New Roman"/>
                        </a:rPr>
                        <a:t>Ref 8</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a:t>C. D. Xuan, T. T. Luong, M. C. Thanh (2025)</a:t>
                      </a:r>
                      <a:endParaRPr sz="140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CPGs from Big-Vul/Devign (50K vuln functions)</a:t>
                      </a:r>
                      <a:endParaRPr sz="140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GCN node embeddings + CNN sequences + semantic fusion, multi-task</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+3-4% accuracy (Devign:68→72%, Big-Vul:65→69%)</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Code-level only, poor architecture generalization</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205495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Ref 9</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a:t>Z. Zhang, H. A. Hamadi, E. Damiani (2023)</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50+ cyber datasets (UNSW/NSL-KDD/CICIDS/malware)</a:t>
                      </a:r>
                      <a:endParaRPr sz="1400" b="0" i="0" u="none" strike="noStrike" cap="none">
                        <a:solidFill>
                          <a:schemeClr val="dk1"/>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SHAP/LIME/IG/DeepLIFT catalog vs faithfulness/stability/simplicity</a:t>
                      </a:r>
                      <a:endParaRPr sz="1800" u="none" strike="noStrike" cap="none"/>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88% feature alignment, 0.85 stability score</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No architecture→network transfer, static attribution</a:t>
                      </a:r>
                      <a:endParaRPr sz="1400" b="0" i="0" u="none" strike="noStrike" cap="none">
                        <a:solidFill>
                          <a:schemeClr val="dk1"/>
                        </a:solidFill>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Literature Survey</a:t>
            </a:r>
            <a:endParaRPr>
              <a:latin typeface="Times New Roman"/>
              <a:ea typeface="Times New Roman"/>
              <a:cs typeface="Times New Roman"/>
              <a:sym typeface="Times New Roman"/>
            </a:endParaRPr>
          </a:p>
        </p:txBody>
      </p:sp>
      <p:graphicFrame>
        <p:nvGraphicFramePr>
          <p:cNvPr id="129" name="Google Shape;129;p7"/>
          <p:cNvGraphicFramePr/>
          <p:nvPr/>
        </p:nvGraphicFramePr>
        <p:xfrm>
          <a:off x="838200" y="1825625"/>
          <a:ext cx="10515600" cy="2602600"/>
        </p:xfrm>
        <a:graphic>
          <a:graphicData uri="http://schemas.openxmlformats.org/drawingml/2006/table">
            <a:tbl>
              <a:tblPr bandRow="1">
                <a:noFill/>
                <a:tableStyleId>{51672E98-579F-4F92-A1D2-1BF1427D53E5}</a:tableStyleId>
              </a:tblPr>
              <a:tblGrid>
                <a:gridCol w="952950">
                  <a:extLst>
                    <a:ext uri="{9D8B030D-6E8A-4147-A177-3AD203B41FA5}">
                      <a16:colId xmlns:a16="http://schemas.microsoft.com/office/drawing/2014/main" val="20000"/>
                    </a:ext>
                  </a:extLst>
                </a:gridCol>
                <a:gridCol w="1663525">
                  <a:extLst>
                    <a:ext uri="{9D8B030D-6E8A-4147-A177-3AD203B41FA5}">
                      <a16:colId xmlns:a16="http://schemas.microsoft.com/office/drawing/2014/main" val="20001"/>
                    </a:ext>
                  </a:extLst>
                </a:gridCol>
                <a:gridCol w="1784250">
                  <a:extLst>
                    <a:ext uri="{9D8B030D-6E8A-4147-A177-3AD203B41FA5}">
                      <a16:colId xmlns:a16="http://schemas.microsoft.com/office/drawing/2014/main" val="20002"/>
                    </a:ext>
                  </a:extLst>
                </a:gridCol>
                <a:gridCol w="2013975">
                  <a:extLst>
                    <a:ext uri="{9D8B030D-6E8A-4147-A177-3AD203B41FA5}">
                      <a16:colId xmlns:a16="http://schemas.microsoft.com/office/drawing/2014/main" val="20003"/>
                    </a:ext>
                  </a:extLst>
                </a:gridCol>
                <a:gridCol w="2034950">
                  <a:extLst>
                    <a:ext uri="{9D8B030D-6E8A-4147-A177-3AD203B41FA5}">
                      <a16:colId xmlns:a16="http://schemas.microsoft.com/office/drawing/2014/main" val="20004"/>
                    </a:ext>
                  </a:extLst>
                </a:gridCol>
                <a:gridCol w="2065950">
                  <a:extLst>
                    <a:ext uri="{9D8B030D-6E8A-4147-A177-3AD203B41FA5}">
                      <a16:colId xmlns:a16="http://schemas.microsoft.com/office/drawing/2014/main" val="20005"/>
                    </a:ext>
                  </a:extLst>
                </a:gridCol>
              </a:tblGrid>
              <a:tr h="939075">
                <a:tc>
                  <a:txBody>
                    <a:bodyPr/>
                    <a:lstStyle/>
                    <a:p>
                      <a:pPr marL="0" marR="0" lvl="0" indent="0" algn="l" rtl="0">
                        <a:lnSpc>
                          <a:spcPct val="83333"/>
                        </a:lnSpc>
                        <a:spcBef>
                          <a:spcPts val="0"/>
                        </a:spcBef>
                        <a:spcAft>
                          <a:spcPts val="0"/>
                        </a:spcAft>
                        <a:buClr>
                          <a:srgbClr val="000000"/>
                        </a:buClr>
                        <a:buSzPts val="1800"/>
                        <a:buFont typeface="Times New Roman"/>
                        <a:buNone/>
                      </a:pPr>
                      <a:r>
                        <a:rPr lang="en-IN" sz="1800" b="1" i="0" u="none" strike="noStrike" cap="none">
                          <a:solidFill>
                            <a:srgbClr val="000000"/>
                          </a:solidFill>
                          <a:latin typeface="Times New Roman"/>
                          <a:ea typeface="Times New Roman"/>
                          <a:cs typeface="Times New Roman"/>
                          <a:sym typeface="Times New Roman"/>
                        </a:rPr>
                        <a:t>REF.No</a:t>
                      </a:r>
                      <a:endParaRPr sz="1800" b="0" i="0" u="none" strike="noStrike" cap="none">
                        <a:solidFill>
                          <a:srgbClr val="000000"/>
                        </a:solidFill>
                        <a:latin typeface="Times New Roman"/>
                        <a:ea typeface="Times New Roman"/>
                        <a:cs typeface="Times New Roman"/>
                        <a:sym typeface="Times New Roman"/>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83333"/>
                        </a:lnSpc>
                        <a:spcBef>
                          <a:spcPts val="0"/>
                        </a:spcBef>
                        <a:spcAft>
                          <a:spcPts val="0"/>
                        </a:spcAft>
                        <a:buClr>
                          <a:srgbClr val="000000"/>
                        </a:buClr>
                        <a:buSzPts val="1800"/>
                        <a:buFont typeface="Times New Roman"/>
                        <a:buNone/>
                      </a:pPr>
                      <a:r>
                        <a:rPr lang="en-IN" sz="1800" b="1" i="0" u="none" strike="noStrike" cap="none">
                          <a:solidFill>
                            <a:srgbClr val="000000"/>
                          </a:solidFill>
                          <a:latin typeface="Times New Roman"/>
                          <a:ea typeface="Times New Roman"/>
                          <a:cs typeface="Times New Roman"/>
                          <a:sym typeface="Times New Roman"/>
                        </a:rPr>
                        <a:t>Author(s)/Year</a:t>
                      </a:r>
                      <a:endParaRPr sz="1800" b="0" i="0" u="none" strike="noStrike" cap="none">
                        <a:solidFill>
                          <a:srgbClr val="000000"/>
                        </a:solidFill>
                        <a:latin typeface="Times New Roman"/>
                        <a:ea typeface="Times New Roman"/>
                        <a:cs typeface="Times New Roman"/>
                        <a:sym typeface="Times New Roman"/>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83333"/>
                        </a:lnSpc>
                        <a:spcBef>
                          <a:spcPts val="0"/>
                        </a:spcBef>
                        <a:spcAft>
                          <a:spcPts val="0"/>
                        </a:spcAft>
                        <a:buClr>
                          <a:srgbClr val="000000"/>
                        </a:buClr>
                        <a:buSzPts val="1800"/>
                        <a:buFont typeface="Times New Roman"/>
                        <a:buNone/>
                      </a:pPr>
                      <a:r>
                        <a:rPr lang="en-IN" sz="1800" b="1" i="0" u="none" strike="noStrike" cap="none">
                          <a:solidFill>
                            <a:srgbClr val="000000"/>
                          </a:solidFill>
                          <a:latin typeface="Times New Roman"/>
                          <a:ea typeface="Times New Roman"/>
                          <a:cs typeface="Times New Roman"/>
                          <a:sym typeface="Times New Roman"/>
                        </a:rPr>
                        <a:t>Dataset</a:t>
                      </a: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83333"/>
                        </a:lnSpc>
                        <a:spcBef>
                          <a:spcPts val="0"/>
                        </a:spcBef>
                        <a:spcAft>
                          <a:spcPts val="0"/>
                        </a:spcAft>
                        <a:buClr>
                          <a:srgbClr val="000000"/>
                        </a:buClr>
                        <a:buSzPts val="1800"/>
                        <a:buFont typeface="Times New Roman"/>
                        <a:buNone/>
                      </a:pPr>
                      <a:r>
                        <a:rPr lang="en-IN" sz="1800" b="1" i="0" u="none" strike="noStrike" cap="none">
                          <a:solidFill>
                            <a:srgbClr val="000000"/>
                          </a:solidFill>
                          <a:latin typeface="Times New Roman"/>
                          <a:ea typeface="Times New Roman"/>
                          <a:cs typeface="Times New Roman"/>
                          <a:sym typeface="Times New Roman"/>
                        </a:rPr>
                        <a:t>(Name/sample sizes)</a:t>
                      </a:r>
                      <a:endParaRPr sz="1800" b="0" i="0" u="none" strike="noStrike" cap="none">
                        <a:solidFill>
                          <a:srgbClr val="000000"/>
                        </a:solidFill>
                        <a:latin typeface="Times New Roman"/>
                        <a:ea typeface="Times New Roman"/>
                        <a:cs typeface="Times New Roman"/>
                        <a:sym typeface="Times New Roman"/>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83333"/>
                        </a:lnSpc>
                        <a:spcBef>
                          <a:spcPts val="0"/>
                        </a:spcBef>
                        <a:spcAft>
                          <a:spcPts val="0"/>
                        </a:spcAft>
                        <a:buClr>
                          <a:srgbClr val="000000"/>
                        </a:buClr>
                        <a:buSzPts val="1800"/>
                        <a:buFont typeface="Times New Roman"/>
                        <a:buNone/>
                      </a:pPr>
                      <a:r>
                        <a:rPr lang="en-IN" sz="1800" b="1" i="0" u="none" strike="noStrike" cap="none">
                          <a:solidFill>
                            <a:srgbClr val="000000"/>
                          </a:solidFill>
                          <a:latin typeface="Times New Roman"/>
                          <a:ea typeface="Times New Roman"/>
                          <a:cs typeface="Times New Roman"/>
                          <a:sym typeface="Times New Roman"/>
                        </a:rPr>
                        <a:t>Methodology</a:t>
                      </a:r>
                      <a:endParaRPr sz="1800" b="0" i="0" u="none" strike="noStrike" cap="none">
                        <a:solidFill>
                          <a:srgbClr val="000000"/>
                        </a:solidFill>
                        <a:latin typeface="Times New Roman"/>
                        <a:ea typeface="Times New Roman"/>
                        <a:cs typeface="Times New Roman"/>
                        <a:sym typeface="Times New Roman"/>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83333"/>
                        </a:lnSpc>
                        <a:spcBef>
                          <a:spcPts val="0"/>
                        </a:spcBef>
                        <a:spcAft>
                          <a:spcPts val="0"/>
                        </a:spcAft>
                        <a:buClr>
                          <a:srgbClr val="000000"/>
                        </a:buClr>
                        <a:buSzPts val="1800"/>
                        <a:buFont typeface="Times New Roman"/>
                        <a:buNone/>
                      </a:pPr>
                      <a:r>
                        <a:rPr lang="en-IN" sz="1800" b="1" i="0" u="none" strike="noStrike" cap="none">
                          <a:solidFill>
                            <a:srgbClr val="000000"/>
                          </a:solidFill>
                          <a:latin typeface="Times New Roman"/>
                          <a:ea typeface="Times New Roman"/>
                          <a:cs typeface="Times New Roman"/>
                          <a:sym typeface="Times New Roman"/>
                        </a:rPr>
                        <a:t>Performance metrices</a:t>
                      </a:r>
                      <a:endParaRPr sz="1800" b="0" i="0" u="none" strike="noStrike" cap="none">
                        <a:solidFill>
                          <a:srgbClr val="000000"/>
                        </a:solidFill>
                        <a:latin typeface="Times New Roman"/>
                        <a:ea typeface="Times New Roman"/>
                        <a:cs typeface="Times New Roman"/>
                        <a:sym typeface="Times New Roman"/>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83333"/>
                        </a:lnSpc>
                        <a:spcBef>
                          <a:spcPts val="0"/>
                        </a:spcBef>
                        <a:spcAft>
                          <a:spcPts val="0"/>
                        </a:spcAft>
                        <a:buClr>
                          <a:srgbClr val="000000"/>
                        </a:buClr>
                        <a:buSzPts val="1800"/>
                        <a:buFont typeface="Times New Roman"/>
                        <a:buNone/>
                      </a:pPr>
                      <a:r>
                        <a:rPr lang="en-IN" sz="1800" b="1" i="0" u="none" strike="noStrike" cap="none">
                          <a:solidFill>
                            <a:srgbClr val="000000"/>
                          </a:solidFill>
                          <a:latin typeface="Times New Roman"/>
                          <a:ea typeface="Times New Roman"/>
                          <a:cs typeface="Times New Roman"/>
                          <a:sym typeface="Times New Roman"/>
                        </a:rPr>
                        <a:t>Limitations</a:t>
                      </a:r>
                      <a:endParaRPr sz="1800" b="0" i="0" u="none" strike="noStrike" cap="none">
                        <a:solidFill>
                          <a:srgbClr val="000000"/>
                        </a:solidFill>
                        <a:latin typeface="Times New Roman"/>
                        <a:ea typeface="Times New Roman"/>
                        <a:cs typeface="Times New Roman"/>
                        <a:sym typeface="Times New Roman"/>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663525">
                <a:tc>
                  <a:txBody>
                    <a:bodyPr/>
                    <a:lstStyle/>
                    <a:p>
                      <a:pPr marL="0" marR="0" lvl="0" indent="0" algn="l" rtl="0">
                        <a:lnSpc>
                          <a:spcPct val="84375"/>
                        </a:lnSpc>
                        <a:spcBef>
                          <a:spcPts val="0"/>
                        </a:spcBef>
                        <a:spcAft>
                          <a:spcPts val="0"/>
                        </a:spcAft>
                        <a:buClr>
                          <a:srgbClr val="000000"/>
                        </a:buClr>
                        <a:buSzPts val="1600"/>
                        <a:buFont typeface="Times New Roman"/>
                        <a:buNone/>
                      </a:pPr>
                      <a:r>
                        <a:rPr lang="en-IN" sz="1600" b="0" i="0" u="none" strike="noStrike" cap="none">
                          <a:solidFill>
                            <a:srgbClr val="000000"/>
                          </a:solidFill>
                          <a:latin typeface="Times New Roman"/>
                          <a:ea typeface="Times New Roman"/>
                          <a:cs typeface="Times New Roman"/>
                          <a:sym typeface="Times New Roman"/>
                        </a:rPr>
                        <a:t>Ref 10</a:t>
                      </a:r>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a:t>X. Zhang  et al(2025)</a:t>
                      </a:r>
                      <a:endParaRPr sz="1800" b="0" i="0" u="none" strike="noStrike" cap="none">
                        <a:solidFill>
                          <a:srgbClr val="000000"/>
                        </a:solidFill>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66666"/>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10K synthetic vuln graphs (CWE + real call graphs)</a:t>
                      </a:r>
                      <a:endParaRPr sz="1400" b="0" i="0" u="none" strike="noStrike" cap="none">
                        <a:solidFill>
                          <a:srgbClr val="000000"/>
                        </a:solidFill>
                        <a:latin typeface="Times New Roman"/>
                        <a:ea typeface="Times New Roman"/>
                        <a:cs typeface="Times New Roman"/>
                        <a:sym typeface="Times New Roman"/>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AST/CFG/PDG fusion → BiLSTM + attention → risk classification</a:t>
                      </a:r>
                      <a:endParaRPr sz="1400" u="none" strike="noStrike" cap="none">
                        <a:solidFill>
                          <a:schemeClr val="dk1"/>
                        </a:solidFill>
                        <a:latin typeface="Times New Roman"/>
                        <a:ea typeface="Times New Roman"/>
                        <a:cs typeface="Times New Roman"/>
                        <a:sym typeface="Times New Roman"/>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90% semantic F1-score, 85% cross-function accuracy</a:t>
                      </a:r>
                      <a:endParaRPr sz="1800" b="0" i="0" u="none" strike="noStrike" cap="none">
                        <a:solidFill>
                          <a:srgbClr val="000000"/>
                        </a:solidFill>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66666"/>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Synthetic realism gaps, pattern overfitting</a:t>
                      </a:r>
                      <a:br>
                        <a:rPr lang="en-IN" sz="1800" u="none" strike="noStrike" cap="none"/>
                      </a:br>
                      <a:endParaRPr sz="1400" b="0" i="0" u="none" strike="noStrike" cap="none">
                        <a:solidFill>
                          <a:srgbClr val="000000"/>
                        </a:solidFill>
                        <a:latin typeface="Times New Roman"/>
                        <a:ea typeface="Times New Roman"/>
                        <a:cs typeface="Times New Roman"/>
                        <a:sym typeface="Times New Roman"/>
                      </a:endParaRPr>
                    </a:p>
                  </a:txBody>
                  <a:tcPr marL="64925" marR="64925" marT="32450" marB="324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8"/>
          <p:cNvSpPr txBox="1">
            <a:spLocks noGrp="1"/>
          </p:cNvSpPr>
          <p:nvPr>
            <p:ph type="title"/>
          </p:nvPr>
        </p:nvSpPr>
        <p:spPr>
          <a:xfrm>
            <a:off x="763073" y="860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Summary (Based on Literature Survey):</a:t>
            </a:r>
            <a:endParaRPr/>
          </a:p>
        </p:txBody>
      </p:sp>
      <p:sp>
        <p:nvSpPr>
          <p:cNvPr id="135" name="Google Shape;135;p8"/>
          <p:cNvSpPr txBox="1">
            <a:spLocks noGrp="1"/>
          </p:cNvSpPr>
          <p:nvPr>
            <p:ph type="body" idx="1"/>
          </p:nvPr>
        </p:nvSpPr>
        <p:spPr>
          <a:xfrm>
            <a:off x="113369" y="1502545"/>
            <a:ext cx="11802649" cy="2634427"/>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just" rtl="0">
              <a:lnSpc>
                <a:spcPct val="100000"/>
              </a:lnSpc>
              <a:spcBef>
                <a:spcPts val="0"/>
              </a:spcBef>
              <a:spcAft>
                <a:spcPts val="0"/>
              </a:spcAft>
              <a:buClr>
                <a:schemeClr val="dk1"/>
              </a:buClr>
              <a:buSzPct val="100000"/>
              <a:buNone/>
            </a:pPr>
            <a:r>
              <a:rPr lang="en-IN" sz="1800" dirty="0">
                <a:latin typeface="Times New Roman"/>
                <a:ea typeface="Times New Roman"/>
                <a:cs typeface="Times New Roman"/>
                <a:sym typeface="Times New Roman"/>
              </a:rPr>
              <a:t>    </a:t>
            </a:r>
            <a:r>
              <a:rPr lang="en-IN" sz="2600" dirty="0">
                <a:latin typeface="Times New Roman"/>
                <a:ea typeface="Times New Roman"/>
                <a:cs typeface="Times New Roman"/>
                <a:sym typeface="Times New Roman"/>
              </a:rPr>
              <a:t>The literature survey reveals a robust foundation for developing an XAI-assisted architectural security framework through </a:t>
            </a:r>
            <a:r>
              <a:rPr lang="en-IN" sz="2600" dirty="0" err="1">
                <a:latin typeface="Times New Roman"/>
                <a:ea typeface="Times New Roman"/>
                <a:cs typeface="Times New Roman"/>
                <a:sym typeface="Times New Roman"/>
              </a:rPr>
              <a:t>ThreatModeling</a:t>
            </a:r>
            <a:r>
              <a:rPr lang="en-IN" sz="2600" dirty="0">
                <a:latin typeface="Times New Roman"/>
                <a:ea typeface="Times New Roman"/>
                <a:cs typeface="Times New Roman"/>
                <a:sym typeface="Times New Roman"/>
              </a:rPr>
              <a:t>-LLM (</a:t>
            </a:r>
            <a:r>
              <a:rPr lang="en-IN" sz="2600" dirty="0" err="1">
                <a:latin typeface="Times New Roman"/>
                <a:ea typeface="Times New Roman"/>
                <a:cs typeface="Times New Roman"/>
                <a:sym typeface="Times New Roman"/>
              </a:rPr>
              <a:t>Abualhaija</a:t>
            </a:r>
            <a:r>
              <a:rPr lang="en-IN" sz="2600" dirty="0">
                <a:latin typeface="Times New Roman"/>
                <a:ea typeface="Times New Roman"/>
                <a:cs typeface="Times New Roman"/>
                <a:sym typeface="Times New Roman"/>
              </a:rPr>
              <a:t> et al., 2024), which achieves 92% accuracy in automating DFD-to-STRIDE threat enumeration using fine-tuned LLMs on Microsoft Threat </a:t>
            </a:r>
            <a:r>
              <a:rPr lang="en-IN" sz="2600" dirty="0" err="1">
                <a:latin typeface="Times New Roman"/>
                <a:ea typeface="Times New Roman"/>
                <a:cs typeface="Times New Roman"/>
                <a:sym typeface="Times New Roman"/>
              </a:rPr>
              <a:t>Modeling</a:t>
            </a:r>
            <a:r>
              <a:rPr lang="en-IN" sz="2600" dirty="0">
                <a:latin typeface="Times New Roman"/>
                <a:ea typeface="Times New Roman"/>
                <a:cs typeface="Times New Roman"/>
                <a:sym typeface="Times New Roman"/>
              </a:rPr>
              <a:t> Tool datasets, providing the core engine for early-stage risk inference [Ref 1]. Complementary XAI techniques from Alghamdi et al. (2025) and Kumar et al. (2023) demonstrate SHAP/LIME hybrid models improving analyst comprehension by 38% on UNSW-NB15 datasets, while graph neural networks (Zhang et al., 2025) enable 91% DFD topology reasoning through GAT attention mechanisms [Ref 2,3,4]. NLP pipelines (Lee et al., 2024) extract threat entities with 92% F1-score from unstructured security descriptions, directly addressing the project's "lightweight security intent" requirement [Ref 6].</a:t>
            </a:r>
            <a:endParaRPr sz="2600" dirty="0">
              <a:latin typeface="Times New Roman"/>
              <a:ea typeface="Times New Roman"/>
              <a:cs typeface="Times New Roman"/>
              <a:sym typeface="Times New Roman"/>
            </a:endParaRPr>
          </a:p>
          <a:p>
            <a:pPr marL="228600" lvl="0" indent="-228600" algn="just" rtl="0">
              <a:lnSpc>
                <a:spcPct val="100000"/>
              </a:lnSpc>
              <a:spcBef>
                <a:spcPts val="0"/>
              </a:spcBef>
              <a:spcAft>
                <a:spcPts val="0"/>
              </a:spcAft>
              <a:buClr>
                <a:schemeClr val="dk1"/>
              </a:buClr>
              <a:buSzPct val="100000"/>
              <a:buNone/>
            </a:pPr>
            <a:endParaRPr sz="1800" dirty="0">
              <a:latin typeface="Times New Roman"/>
              <a:ea typeface="Times New Roman"/>
              <a:cs typeface="Times New Roman"/>
              <a:sym typeface="Times New Roman"/>
            </a:endParaRPr>
          </a:p>
        </p:txBody>
      </p:sp>
      <p:sp>
        <p:nvSpPr>
          <p:cNvPr id="136" name="Google Shape;136;p8"/>
          <p:cNvSpPr/>
          <p:nvPr/>
        </p:nvSpPr>
        <p:spPr>
          <a:xfrm>
            <a:off x="325315" y="365125"/>
            <a:ext cx="11588262"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8"/>
          <p:cNvSpPr txBox="1"/>
          <p:nvPr/>
        </p:nvSpPr>
        <p:spPr>
          <a:xfrm>
            <a:off x="320476" y="4129917"/>
            <a:ext cx="11408535" cy="22467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000" dirty="0">
                <a:solidFill>
                  <a:schemeClr val="dk1"/>
                </a:solidFill>
                <a:latin typeface="Times New Roman"/>
                <a:ea typeface="Times New Roman"/>
                <a:cs typeface="Times New Roman"/>
                <a:sym typeface="Times New Roman"/>
              </a:rPr>
              <a:t>Key limitations across studies—domain bias, scalability with complex DFDs, and code-level focus—highlight the novelty of the proposed unified framework that combines LLM threat enumeration, interpretable GNN topology analysis, and architect-facing XAI explanations across microservice architectures (</a:t>
            </a:r>
            <a:r>
              <a:rPr lang="en-IN" sz="2000" dirty="0" err="1">
                <a:solidFill>
                  <a:schemeClr val="dk1"/>
                </a:solidFill>
                <a:latin typeface="Times New Roman"/>
                <a:ea typeface="Times New Roman"/>
                <a:cs typeface="Times New Roman"/>
                <a:sym typeface="Times New Roman"/>
              </a:rPr>
              <a:t>microSecEnD</a:t>
            </a:r>
            <a:r>
              <a:rPr lang="en-IN" sz="2000" dirty="0">
                <a:solidFill>
                  <a:schemeClr val="dk1"/>
                </a:solidFill>
                <a:latin typeface="Times New Roman"/>
                <a:ea typeface="Times New Roman"/>
                <a:cs typeface="Times New Roman"/>
                <a:sym typeface="Times New Roman"/>
              </a:rPr>
              <a:t>) and peer-reviewed threat models (OWASP TML) [Ref 4,8]. The synthesis addresses gaps in design-time automation (versus runtime IDS) and partial-information reasoning, achieving comprehensive coverage from DFD parsing through risk prioritization with demonstrated performance benchmarks (85-95% accuracy range) and validated explainability metrics (87-89% transparency/fidelity) across all 10 studies.</a:t>
            </a: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9"/>
          <p:cNvSpPr txBox="1">
            <a:spLocks noGrp="1"/>
          </p:cNvSpPr>
          <p:nvPr>
            <p:ph type="title"/>
          </p:nvPr>
        </p:nvSpPr>
        <p:spPr>
          <a:xfrm>
            <a:off x="838199" y="26099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Research Gap</a:t>
            </a:r>
            <a:endParaRPr/>
          </a:p>
        </p:txBody>
      </p:sp>
      <p:sp>
        <p:nvSpPr>
          <p:cNvPr id="143" name="Google Shape;143;p9"/>
          <p:cNvSpPr txBox="1">
            <a:spLocks noGrp="1"/>
          </p:cNvSpPr>
          <p:nvPr>
            <p:ph type="body" idx="1"/>
          </p:nvPr>
        </p:nvSpPr>
        <p:spPr>
          <a:xfrm>
            <a:off x="608162" y="820924"/>
            <a:ext cx="10975675" cy="479703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endParaRPr sz="1800" dirty="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1800"/>
              <a:buNone/>
            </a:pPr>
            <a:r>
              <a:rPr lang="en-IN" sz="1800" dirty="0">
                <a:latin typeface="Times New Roman"/>
                <a:ea typeface="Times New Roman"/>
                <a:cs typeface="Times New Roman"/>
                <a:sym typeface="Times New Roman"/>
              </a:rPr>
              <a:t>     </a:t>
            </a:r>
            <a:r>
              <a:rPr lang="en-IN" sz="2000" dirty="0">
                <a:latin typeface="Times New Roman"/>
                <a:ea typeface="Times New Roman"/>
                <a:cs typeface="Times New Roman"/>
                <a:sym typeface="Times New Roman"/>
              </a:rPr>
              <a:t>Current research demonstrates impressive technical capabilities—92% accurate LLM-based threat enumeration from DFDs (</a:t>
            </a:r>
            <a:r>
              <a:rPr lang="en-IN" sz="2000" dirty="0" err="1">
                <a:latin typeface="Times New Roman"/>
                <a:ea typeface="Times New Roman"/>
                <a:cs typeface="Times New Roman"/>
                <a:sym typeface="Times New Roman"/>
              </a:rPr>
              <a:t>Abualhaija</a:t>
            </a:r>
            <a:r>
              <a:rPr lang="en-IN" sz="2000" dirty="0">
                <a:latin typeface="Times New Roman"/>
                <a:ea typeface="Times New Roman"/>
                <a:cs typeface="Times New Roman"/>
                <a:sym typeface="Times New Roman"/>
              </a:rPr>
              <a:t> et al., 2024), 91% GNN topology reasoning (Zhang et al., 2025), and 38% improved analyst comprehension through XAI (Alghamdi et al., 2025)—yet these advances remain fragmented across isolated domains [Ref 1,4,2]. </a:t>
            </a:r>
            <a:r>
              <a:rPr lang="en-IN" sz="2000" dirty="0" err="1">
                <a:latin typeface="Times New Roman"/>
                <a:ea typeface="Times New Roman"/>
                <a:cs typeface="Times New Roman"/>
                <a:sym typeface="Times New Roman"/>
              </a:rPr>
              <a:t>ThreatModeling</a:t>
            </a:r>
            <a:r>
              <a:rPr lang="en-IN" sz="2000" dirty="0">
                <a:latin typeface="Times New Roman"/>
                <a:ea typeface="Times New Roman"/>
                <a:cs typeface="Times New Roman"/>
                <a:sym typeface="Times New Roman"/>
              </a:rPr>
              <a:t>-LLM excels at banking DFD automation but lacks microservice diversity; XAI studies validate SHAP/LIME on network IDS datasets (UNSW-NB15) rather than architectural diagrams; GNN research handles botnet flows but struggles with complex DFDs beyond 100 components [Ref 1,2,4]. Critically, no framework unifies these capabilities for design-time analysis of partial architectural artifacts, leaving architects without a single tool that combines automated threat discovery, topology-aware reasoning, and human-interpretable explanations.</a:t>
            </a:r>
            <a:endParaRPr sz="2000"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000"/>
              <a:buNone/>
            </a:pPr>
            <a:r>
              <a:rPr lang="en-IN" sz="1800" dirty="0">
                <a:latin typeface="Times New Roman"/>
                <a:ea typeface="Times New Roman"/>
                <a:cs typeface="Times New Roman"/>
                <a:sym typeface="Times New Roman"/>
              </a:rPr>
              <a:t>The most significant gap lies in early-stage, partial-information reasoning—modern architectures evolve iteratively with incomplete specifications, yet existing methods demand complete DFDs (Microsoft TMT), mature codebases (CPG analysis), or runtime network traffic [Ref 1,8]. Studies acknowledge domain bias (banking-only datasets), scalability limitations (&gt;100 component DFDs), and network-versus-architecture disconnects, while security intent parsing remains siloed in CTI extraction rather than integrated with visual DFD analysis [Ref 1,4,6]. This project bridges these gaps through a unified design-time assistant that processes incomplete microservice DFDs (</a:t>
            </a:r>
            <a:r>
              <a:rPr lang="en-IN" sz="1800" dirty="0" err="1">
                <a:latin typeface="Times New Roman"/>
                <a:ea typeface="Times New Roman"/>
                <a:cs typeface="Times New Roman"/>
                <a:sym typeface="Times New Roman"/>
              </a:rPr>
              <a:t>microSecEnD</a:t>
            </a:r>
            <a:r>
              <a:rPr lang="en-IN" sz="1800" dirty="0">
                <a:latin typeface="Times New Roman"/>
                <a:ea typeface="Times New Roman"/>
                <a:cs typeface="Times New Roman"/>
                <a:sym typeface="Times New Roman"/>
              </a:rPr>
              <a:t>), applies peer-reviewed threat schemas (OWASP TML), and delivers architect-facing explanations—transforming fragmented research into a cohesive secure-by-design workflow absent from current literature.</a:t>
            </a:r>
            <a:endParaRPr sz="1800"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sz="2000" dirty="0">
              <a:latin typeface="Times New Roman"/>
              <a:ea typeface="Times New Roman"/>
              <a:cs typeface="Times New Roman"/>
              <a:sym typeface="Times New Roman"/>
            </a:endParaRPr>
          </a:p>
        </p:txBody>
      </p:sp>
      <p:sp>
        <p:nvSpPr>
          <p:cNvPr id="144" name="Google Shape;144;p9"/>
          <p:cNvSpPr/>
          <p:nvPr/>
        </p:nvSpPr>
        <p:spPr>
          <a:xfrm>
            <a:off x="272562" y="298938"/>
            <a:ext cx="11658600" cy="6193937"/>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Motivation</a:t>
            </a:r>
            <a:endParaRPr/>
          </a:p>
        </p:txBody>
      </p:sp>
      <p:sp>
        <p:nvSpPr>
          <p:cNvPr id="150" name="Google Shape;150;p10"/>
          <p:cNvSpPr txBox="1">
            <a:spLocks noGrp="1"/>
          </p:cNvSpPr>
          <p:nvPr>
            <p:ph type="body" idx="1"/>
          </p:nvPr>
        </p:nvSpPr>
        <p:spPr>
          <a:xfrm>
            <a:off x="838200" y="1696229"/>
            <a:ext cx="10515600" cy="484016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IN" sz="2000">
                <a:latin typeface="Times New Roman"/>
                <a:ea typeface="Times New Roman"/>
                <a:cs typeface="Times New Roman"/>
                <a:sym typeface="Times New Roman"/>
              </a:rPr>
              <a:t>Modern software failures increasingly stem from architectural design flaws introduced during early development stages, costing up to 100x more to remediate post-deployment compared to design-time fixes. Despite advances in automated threat modeling (92% accuracy) and explainable AI (38% improved analyst comprehension), security architects lack integrated tools that analyze incomplete Data Flow Diagrams (DFDs) and lightweight security intent descriptions to deliver actionable risk insights.</a:t>
            </a:r>
            <a:endParaRPr sz="20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This project addresses the critical need for design-time security reasoning assistants that bridge the gap between fragmented research capabilities—LLM threat enumeration, GNN topology analysis, and XAI transparency—enabling architects to make secure-by-design decisions under partial information, fundamentally shifting security left in the SDLC.</a:t>
            </a:r>
            <a:endParaRPr sz="20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a:latin typeface="Calibri"/>
              <a:ea typeface="Calibri"/>
              <a:cs typeface="Calibri"/>
              <a:sym typeface="Calibri"/>
            </a:endParaRPr>
          </a:p>
        </p:txBody>
      </p:sp>
      <p:sp>
        <p:nvSpPr>
          <p:cNvPr id="151" name="Google Shape;151;p10"/>
          <p:cNvSpPr/>
          <p:nvPr/>
        </p:nvSpPr>
        <p:spPr>
          <a:xfrm>
            <a:off x="404446" y="365125"/>
            <a:ext cx="11438792"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1"/>
          <p:cNvSpPr txBox="1">
            <a:spLocks noGrp="1"/>
          </p:cNvSpPr>
          <p:nvPr>
            <p:ph type="title"/>
          </p:nvPr>
        </p:nvSpPr>
        <p:spPr>
          <a:xfrm>
            <a:off x="677214" y="12901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Problem Statement</a:t>
            </a:r>
            <a:endParaRPr/>
          </a:p>
        </p:txBody>
      </p:sp>
      <p:sp>
        <p:nvSpPr>
          <p:cNvPr id="157" name="Google Shape;157;p11"/>
          <p:cNvSpPr/>
          <p:nvPr/>
        </p:nvSpPr>
        <p:spPr>
          <a:xfrm>
            <a:off x="386862" y="365125"/>
            <a:ext cx="11570676"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 name="Google Shape;158;p11"/>
          <p:cNvSpPr/>
          <p:nvPr/>
        </p:nvSpPr>
        <p:spPr>
          <a:xfrm>
            <a:off x="510192" y="1379039"/>
            <a:ext cx="11004594" cy="2276536"/>
          </a:xfrm>
          <a:prstGeom prst="roundRect">
            <a:avLst>
              <a:gd name="adj" fmla="val 16667"/>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IN" sz="1800">
                <a:solidFill>
                  <a:schemeClr val="dk1"/>
                </a:solidFill>
                <a:latin typeface="Times New Roman"/>
                <a:ea typeface="Times New Roman"/>
                <a:cs typeface="Times New Roman"/>
                <a:sym typeface="Times New Roman"/>
              </a:rPr>
              <a:t>Traditional threat modeling remains manual, expert-driven, and post-implementation, while existing AI solutions analyze runtime network traffic or mature codebases rather than early-stage architectural artifacts. The critical gap is the absence of an integrated XAI framework that automatically infers security risks, threat exposures, and missing controls from incomplete Data Flow Diagrams (DFDs) and unstructured security intent descriptions, delivering transparent, actionable recommendations to architects during iterative design phases when remediation remains cost-effective.</a:t>
            </a:r>
            <a:endParaRPr/>
          </a:p>
        </p:txBody>
      </p:sp>
      <p:sp>
        <p:nvSpPr>
          <p:cNvPr id="159" name="Google Shape;159;p11"/>
          <p:cNvSpPr txBox="1"/>
          <p:nvPr/>
        </p:nvSpPr>
        <p:spPr>
          <a:xfrm>
            <a:off x="1844350" y="4303484"/>
            <a:ext cx="2743200" cy="365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Calibri"/>
                <a:ea typeface="Calibri"/>
                <a:cs typeface="Calibri"/>
                <a:sym typeface="Calibri"/>
              </a:rPr>
              <a:t>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dirty="0">
                <a:latin typeface="Times New Roman"/>
                <a:ea typeface="Times New Roman"/>
                <a:cs typeface="Times New Roman"/>
                <a:sym typeface="Times New Roman"/>
              </a:rPr>
              <a:t>Dataset Description</a:t>
            </a:r>
            <a:endParaRPr dirty="0"/>
          </a:p>
        </p:txBody>
      </p:sp>
      <p:sp>
        <p:nvSpPr>
          <p:cNvPr id="165" name="Google Shape;165;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IN" sz="2000" dirty="0">
                <a:latin typeface="Times New Roman"/>
                <a:ea typeface="Times New Roman"/>
                <a:cs typeface="Times New Roman"/>
                <a:sym typeface="Times New Roman"/>
              </a:rPr>
              <a:t>The framework leverages </a:t>
            </a:r>
            <a:r>
              <a:rPr lang="en-IN" sz="2000" dirty="0" err="1">
                <a:latin typeface="Times New Roman"/>
                <a:ea typeface="Times New Roman"/>
                <a:cs typeface="Times New Roman"/>
                <a:sym typeface="Times New Roman"/>
              </a:rPr>
              <a:t>microSecEnD</a:t>
            </a:r>
            <a:r>
              <a:rPr lang="en-IN" sz="2000" dirty="0">
                <a:latin typeface="Times New Roman"/>
                <a:ea typeface="Times New Roman"/>
                <a:cs typeface="Times New Roman"/>
                <a:sym typeface="Times New Roman"/>
              </a:rPr>
              <a:t> (1,000+ microservice DFDs with ground-truth risks), OWASP Threat Model Library (peer-reviewed STRIDE models), Microsoft Threat </a:t>
            </a:r>
            <a:r>
              <a:rPr lang="en-IN" sz="2000" dirty="0" err="1">
                <a:latin typeface="Times New Roman"/>
                <a:ea typeface="Times New Roman"/>
                <a:cs typeface="Times New Roman"/>
                <a:sym typeface="Times New Roman"/>
              </a:rPr>
              <a:t>Modeling</a:t>
            </a:r>
            <a:r>
              <a:rPr lang="en-IN" sz="2000" dirty="0">
                <a:latin typeface="Times New Roman"/>
                <a:ea typeface="Times New Roman"/>
                <a:cs typeface="Times New Roman"/>
                <a:sym typeface="Times New Roman"/>
              </a:rPr>
              <a:t> Tool (100+ banking DFDs), UNSW-NB15 (2.5M flows for XAI validation), and MITRE ATT&amp;CK/CVE (200K+ threat records)—</a:t>
            </a:r>
            <a:r>
              <a:rPr lang="en-IN" sz="2000" dirty="0" err="1">
                <a:latin typeface="Times New Roman"/>
                <a:ea typeface="Times New Roman"/>
                <a:cs typeface="Times New Roman"/>
                <a:sym typeface="Times New Roman"/>
              </a:rPr>
              <a:t>totaling</a:t>
            </a:r>
            <a:r>
              <a:rPr lang="en-IN" sz="2000" dirty="0">
                <a:latin typeface="Times New Roman"/>
                <a:ea typeface="Times New Roman"/>
                <a:cs typeface="Times New Roman"/>
                <a:sym typeface="Times New Roman"/>
              </a:rPr>
              <a:t> 3,500+ threat models across 3.5GB. These datasets provide complete coverage for DFD parsing, threat annotation, graph reasoning, and explainability evaluation, enabling prototype development within 2 weeks.</a:t>
            </a:r>
            <a:endParaRPr dirty="0"/>
          </a:p>
        </p:txBody>
      </p:sp>
      <p:sp>
        <p:nvSpPr>
          <p:cNvPr id="166" name="Google Shape;166;p12"/>
          <p:cNvSpPr/>
          <p:nvPr/>
        </p:nvSpPr>
        <p:spPr>
          <a:xfrm>
            <a:off x="369277" y="365125"/>
            <a:ext cx="11579469"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66;p12">
            <a:extLst>
              <a:ext uri="{FF2B5EF4-FFF2-40B4-BE49-F238E27FC236}">
                <a16:creationId xmlns:a16="http://schemas.microsoft.com/office/drawing/2014/main" id="{68F13765-C972-12A5-50AD-4293EAC9D8C9}"/>
              </a:ext>
            </a:extLst>
          </p:cNvPr>
          <p:cNvSpPr/>
          <p:nvPr/>
        </p:nvSpPr>
        <p:spPr>
          <a:xfrm>
            <a:off x="369277" y="365125"/>
            <a:ext cx="11579469"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6" name="TextBox 5">
            <a:extLst>
              <a:ext uri="{FF2B5EF4-FFF2-40B4-BE49-F238E27FC236}">
                <a16:creationId xmlns:a16="http://schemas.microsoft.com/office/drawing/2014/main" id="{BE64B18F-00C6-E6A6-1174-DA6C49CD8462}"/>
              </a:ext>
            </a:extLst>
          </p:cNvPr>
          <p:cNvSpPr txBox="1"/>
          <p:nvPr/>
        </p:nvSpPr>
        <p:spPr>
          <a:xfrm>
            <a:off x="502920" y="630936"/>
            <a:ext cx="10515600"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   PREPROCESSING</a:t>
            </a:r>
          </a:p>
        </p:txBody>
      </p:sp>
      <p:sp>
        <p:nvSpPr>
          <p:cNvPr id="7" name="TextBox 6">
            <a:extLst>
              <a:ext uri="{FF2B5EF4-FFF2-40B4-BE49-F238E27FC236}">
                <a16:creationId xmlns:a16="http://schemas.microsoft.com/office/drawing/2014/main" id="{1A5640BF-EB4B-FE83-17F1-A1DA37A3C26E}"/>
              </a:ext>
            </a:extLst>
          </p:cNvPr>
          <p:cNvSpPr txBox="1"/>
          <p:nvPr/>
        </p:nvSpPr>
        <p:spPr>
          <a:xfrm rot="10800000" flipH="1" flipV="1">
            <a:off x="502920" y="1646598"/>
            <a:ext cx="11210544" cy="440120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raw DFD input undergoes a structured pre-processing pipeline before being passed to the LLM inference engine. Each stage transforms unstructured or loosely defined design information into a precise, semantically rich context object that </a:t>
            </a:r>
            <a:r>
              <a:rPr lang="en-US" dirty="0" err="1">
                <a:latin typeface="Times New Roman" panose="02020603050405020304" pitchFamily="18" charset="0"/>
                <a:cs typeface="Times New Roman" panose="02020603050405020304" pitchFamily="18" charset="0"/>
              </a:rPr>
              <a:t>maximises</a:t>
            </a:r>
            <a:r>
              <a:rPr lang="en-US" dirty="0">
                <a:latin typeface="Times New Roman" panose="02020603050405020304" pitchFamily="18" charset="0"/>
                <a:cs typeface="Times New Roman" panose="02020603050405020304" pitchFamily="18" charset="0"/>
              </a:rPr>
              <a:t> the quality of threat reasoning.</a:t>
            </a:r>
          </a:p>
          <a:p>
            <a:r>
              <a:rPr lang="en-US" b="1" dirty="0">
                <a:latin typeface="Times New Roman" panose="02020603050405020304" pitchFamily="18" charset="0"/>
                <a:cs typeface="Times New Roman" panose="02020603050405020304" pitchFamily="18" charset="0"/>
              </a:rPr>
              <a:t>Stage 1 — Input Ingestion</a:t>
            </a:r>
            <a:r>
              <a:rPr lang="en-US" dirty="0">
                <a:latin typeface="Times New Roman" panose="02020603050405020304" pitchFamily="18" charset="0"/>
                <a:cs typeface="Times New Roman" panose="02020603050405020304" pitchFamily="18" charset="0"/>
              </a:rPr>
              <a:t> The system accepts a DFD in JSON format. Each JSON object must contain four top-level keys: </a:t>
            </a:r>
            <a:r>
              <a:rPr lang="en-US" dirty="0" err="1">
                <a:latin typeface="Times New Roman" panose="02020603050405020304" pitchFamily="18" charset="0"/>
                <a:cs typeface="Times New Roman" panose="02020603050405020304" pitchFamily="18" charset="0"/>
              </a:rPr>
              <a:t>dfd_id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system_name</a:t>
            </a:r>
            <a:r>
              <a:rPr lang="en-US" dirty="0">
                <a:latin typeface="Times New Roman" panose="02020603050405020304" pitchFamily="18" charset="0"/>
                <a:cs typeface="Times New Roman" panose="02020603050405020304" pitchFamily="18" charset="0"/>
              </a:rPr>
              <a:t>, nodes, and edges. Trust boundaries and </a:t>
            </a:r>
            <a:r>
              <a:rPr lang="en-US" dirty="0" err="1">
                <a:latin typeface="Times New Roman" panose="02020603050405020304" pitchFamily="18" charset="0"/>
                <a:cs typeface="Times New Roman" panose="02020603050405020304" pitchFamily="18" charset="0"/>
              </a:rPr>
              <a:t>partial_info_flags</a:t>
            </a:r>
            <a:r>
              <a:rPr lang="en-US" dirty="0">
                <a:latin typeface="Times New Roman" panose="02020603050405020304" pitchFamily="18" charset="0"/>
                <a:cs typeface="Times New Roman" panose="02020603050405020304" pitchFamily="18" charset="0"/>
              </a:rPr>
              <a:t> are optional but processed when present. Invalid or malformed JSON is caught at this stage and returns a structured error report without crashing the pipeline.</a:t>
            </a:r>
          </a:p>
          <a:p>
            <a:r>
              <a:rPr lang="en-US" b="1" dirty="0">
                <a:latin typeface="Times New Roman" panose="02020603050405020304" pitchFamily="18" charset="0"/>
                <a:cs typeface="Times New Roman" panose="02020603050405020304" pitchFamily="18" charset="0"/>
              </a:rPr>
              <a:t>Stage 2 — Node Classification</a:t>
            </a:r>
            <a:r>
              <a:rPr lang="en-US" dirty="0">
                <a:latin typeface="Times New Roman" panose="02020603050405020304" pitchFamily="18" charset="0"/>
                <a:cs typeface="Times New Roman" panose="02020603050405020304" pitchFamily="18" charset="0"/>
              </a:rPr>
              <a:t> All nodes are </a:t>
            </a:r>
            <a:r>
              <a:rPr lang="en-US" dirty="0" err="1">
                <a:latin typeface="Times New Roman" panose="02020603050405020304" pitchFamily="18" charset="0"/>
                <a:cs typeface="Times New Roman" panose="02020603050405020304" pitchFamily="18" charset="0"/>
              </a:rPr>
              <a:t>categorised</a:t>
            </a:r>
            <a:r>
              <a:rPr lang="en-US" dirty="0">
                <a:latin typeface="Times New Roman" panose="02020603050405020304" pitchFamily="18" charset="0"/>
                <a:cs typeface="Times New Roman" panose="02020603050405020304" pitchFamily="18" charset="0"/>
              </a:rPr>
              <a:t> into one of three types: External Entity (untrusted actors outside the system boundary), Process (application logic components), and Datastore (data at rest). This classification is critical because STRIDE threat mapping differs by component type — for example, Spoofing threats are primarily relevant at External Entity entry points, while Tampering threats are most relevant at Datastores.</a:t>
            </a:r>
          </a:p>
          <a:p>
            <a:r>
              <a:rPr lang="en-US" b="1" dirty="0">
                <a:latin typeface="Times New Roman" panose="02020603050405020304" pitchFamily="18" charset="0"/>
                <a:cs typeface="Times New Roman" panose="02020603050405020304" pitchFamily="18" charset="0"/>
              </a:rPr>
              <a:t>Stage 3 — Edge Property Extraction</a:t>
            </a:r>
            <a:r>
              <a:rPr lang="en-US" dirty="0">
                <a:latin typeface="Times New Roman" panose="02020603050405020304" pitchFamily="18" charset="0"/>
                <a:cs typeface="Times New Roman" panose="02020603050405020304" pitchFamily="18" charset="0"/>
              </a:rPr>
              <a:t> Each data flow edge is parsed for four security-critical properties: protocol (e.g., HTTPS, TCP, null), authentication status (True / False / null), encryption status (True / False / null), and data description. Null values are not treated as errors — they are flagged as missing information and passed forward as uncertainty signals to the LLM.</a:t>
            </a:r>
          </a:p>
          <a:p>
            <a:r>
              <a:rPr lang="en-US" b="1" dirty="0">
                <a:latin typeface="Times New Roman" panose="02020603050405020304" pitchFamily="18" charset="0"/>
                <a:cs typeface="Times New Roman" panose="02020603050405020304" pitchFamily="18" charset="0"/>
              </a:rPr>
              <a:t>Stage 4 — Trust Boundary Crossing Detection</a:t>
            </a:r>
            <a:r>
              <a:rPr lang="en-US" dirty="0">
                <a:latin typeface="Times New Roman" panose="02020603050405020304" pitchFamily="18" charset="0"/>
                <a:cs typeface="Times New Roman" panose="02020603050405020304" pitchFamily="18" charset="0"/>
              </a:rPr>
              <a:t> The parser identifies which edges cross trust boundaries by checking whether the source and destination nodes belong to different sides of a defined boundary. Boundary-crossing edges receive a special flag in the context object because they represent the highest-risk data flows in any DFD.</a:t>
            </a:r>
          </a:p>
          <a:p>
            <a:r>
              <a:rPr lang="en-US" b="1" dirty="0">
                <a:latin typeface="Times New Roman" panose="02020603050405020304" pitchFamily="18" charset="0"/>
                <a:cs typeface="Times New Roman" panose="02020603050405020304" pitchFamily="18" charset="0"/>
              </a:rPr>
              <a:t>Stage 5 — Completeness Scoring</a:t>
            </a:r>
            <a:r>
              <a:rPr lang="en-US" dirty="0">
                <a:latin typeface="Times New Roman" panose="02020603050405020304" pitchFamily="18" charset="0"/>
                <a:cs typeface="Times New Roman" panose="02020603050405020304" pitchFamily="18" charset="0"/>
              </a:rPr>
              <a:t> A completeness score between 0.0 and 1.0 is computed based on four factors: presence of trust boundaries (weight: 1.0 or 0.0), proportion of edges with specified authentication (0.0–1.0), proportion of edges with specified encryption (0.0–1.0), and proportion of edges with known protocol (1.0 or 0.5 if any unknown). A score below 0.8 sets the </a:t>
            </a:r>
            <a:r>
              <a:rPr lang="en-US" dirty="0" err="1">
                <a:latin typeface="Times New Roman" panose="02020603050405020304" pitchFamily="18" charset="0"/>
                <a:cs typeface="Times New Roman" panose="02020603050405020304" pitchFamily="18" charset="0"/>
              </a:rPr>
              <a:t>is_partial</a:t>
            </a:r>
            <a:r>
              <a:rPr lang="en-US" dirty="0">
                <a:latin typeface="Times New Roman" panose="02020603050405020304" pitchFamily="18" charset="0"/>
                <a:cs typeface="Times New Roman" panose="02020603050405020304" pitchFamily="18" charset="0"/>
              </a:rPr>
              <a:t> flag to True, which modifies prompt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in the inference stage.</a:t>
            </a:r>
          </a:p>
          <a:p>
            <a:r>
              <a:rPr lang="en-US" b="1" dirty="0">
                <a:latin typeface="Times New Roman" panose="02020603050405020304" pitchFamily="18" charset="0"/>
                <a:cs typeface="Times New Roman" panose="02020603050405020304" pitchFamily="18" charset="0"/>
              </a:rPr>
              <a:t>Stage 6 — Text Summary Generation</a:t>
            </a:r>
            <a:r>
              <a:rPr lang="en-US" dirty="0">
                <a:latin typeface="Times New Roman" panose="02020603050405020304" pitchFamily="18" charset="0"/>
                <a:cs typeface="Times New Roman" panose="02020603050405020304" pitchFamily="18" charset="0"/>
              </a:rPr>
              <a:t> The parsed DFD is </a:t>
            </a:r>
            <a:r>
              <a:rPr lang="en-US" dirty="0" err="1">
                <a:latin typeface="Times New Roman" panose="02020603050405020304" pitchFamily="18" charset="0"/>
                <a:cs typeface="Times New Roman" panose="02020603050405020304" pitchFamily="18" charset="0"/>
              </a:rPr>
              <a:t>serialised</a:t>
            </a:r>
            <a:r>
              <a:rPr lang="en-US" dirty="0">
                <a:latin typeface="Times New Roman" panose="02020603050405020304" pitchFamily="18" charset="0"/>
                <a:cs typeface="Times New Roman" panose="02020603050405020304" pitchFamily="18" charset="0"/>
              </a:rPr>
              <a:t> into a structured natural language summary containing five labelled sections: Components, Trust Boundaries, Data Flows, Trust Boundary Crossings, and Partial DFD Warnings. This summary is the direct input to the LLM prompt — it is designed to be maximally informative for STRIDE reasoning while remaining concise enough to fit within token limits.</a:t>
            </a:r>
          </a:p>
        </p:txBody>
      </p:sp>
    </p:spTree>
    <p:extLst>
      <p:ext uri="{BB962C8B-B14F-4D97-AF65-F5344CB8AC3E}">
        <p14:creationId xmlns:p14="http://schemas.microsoft.com/office/powerpoint/2010/main" val="2483636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9609B-11C4-7546-6121-BB852A30D0CF}"/>
            </a:ext>
          </a:extLst>
        </p:cNvPr>
        <p:cNvGrpSpPr/>
        <p:nvPr/>
      </p:nvGrpSpPr>
      <p:grpSpPr>
        <a:xfrm>
          <a:off x="0" y="0"/>
          <a:ext cx="0" cy="0"/>
          <a:chOff x="0" y="0"/>
          <a:chExt cx="0" cy="0"/>
        </a:xfrm>
      </p:grpSpPr>
      <p:sp>
        <p:nvSpPr>
          <p:cNvPr id="4" name="Google Shape;166;p12">
            <a:extLst>
              <a:ext uri="{FF2B5EF4-FFF2-40B4-BE49-F238E27FC236}">
                <a16:creationId xmlns:a16="http://schemas.microsoft.com/office/drawing/2014/main" id="{1CD3BEFA-E896-CA13-1799-5ADCE089123B}"/>
              </a:ext>
            </a:extLst>
          </p:cNvPr>
          <p:cNvSpPr/>
          <p:nvPr/>
        </p:nvSpPr>
        <p:spPr>
          <a:xfrm>
            <a:off x="369277" y="365124"/>
            <a:ext cx="11579469" cy="641057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TextBox 4">
            <a:extLst>
              <a:ext uri="{FF2B5EF4-FFF2-40B4-BE49-F238E27FC236}">
                <a16:creationId xmlns:a16="http://schemas.microsoft.com/office/drawing/2014/main" id="{697C0006-4711-D70C-B067-1DCF69363602}"/>
              </a:ext>
            </a:extLst>
          </p:cNvPr>
          <p:cNvSpPr txBox="1"/>
          <p:nvPr/>
        </p:nvSpPr>
        <p:spPr>
          <a:xfrm>
            <a:off x="612648" y="521208"/>
            <a:ext cx="10515600" cy="59436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3593BBD1-548C-9D50-4AA5-A94D471D68AC}"/>
              </a:ext>
            </a:extLst>
          </p:cNvPr>
          <p:cNvSpPr txBox="1"/>
          <p:nvPr/>
        </p:nvSpPr>
        <p:spPr>
          <a:xfrm>
            <a:off x="466344" y="603504"/>
            <a:ext cx="11113008"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   METHODOLOGY</a:t>
            </a:r>
          </a:p>
        </p:txBody>
      </p:sp>
      <p:sp>
        <p:nvSpPr>
          <p:cNvPr id="6" name="TextBox 5">
            <a:extLst>
              <a:ext uri="{FF2B5EF4-FFF2-40B4-BE49-F238E27FC236}">
                <a16:creationId xmlns:a16="http://schemas.microsoft.com/office/drawing/2014/main" id="{2C684A11-34CA-FEAC-9A31-7CA724D89DD2}"/>
              </a:ext>
            </a:extLst>
          </p:cNvPr>
          <p:cNvSpPr txBox="1"/>
          <p:nvPr/>
        </p:nvSpPr>
        <p:spPr>
          <a:xfrm>
            <a:off x="466344" y="1188279"/>
            <a:ext cx="11356379" cy="569386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proposed system follows a prompt-engineered LLM-based methodology for design-time STRIDE threat inference. The methodology is intentionally lightweight and does not require model training, labelled datasets for learning, or GPU compute — making it deployable by any development team within minutes.</a:t>
            </a:r>
          </a:p>
          <a:p>
            <a:r>
              <a:rPr lang="en-US" b="1" dirty="0">
                <a:latin typeface="Times New Roman" panose="02020603050405020304" pitchFamily="18" charset="0"/>
                <a:cs typeface="Times New Roman" panose="02020603050405020304" pitchFamily="18" charset="0"/>
              </a:rPr>
              <a:t>Core Approach — Few-Shot Prompted LLM Inference</a:t>
            </a:r>
            <a:r>
              <a:rPr lang="en-US" dirty="0">
                <a:latin typeface="Times New Roman" panose="02020603050405020304" pitchFamily="18" charset="0"/>
                <a:cs typeface="Times New Roman" panose="02020603050405020304" pitchFamily="18" charset="0"/>
              </a:rPr>
              <a:t> Rather than fine-tuning a model (as in </a:t>
            </a:r>
            <a:r>
              <a:rPr lang="en-US" dirty="0" err="1">
                <a:latin typeface="Times New Roman" panose="02020603050405020304" pitchFamily="18" charset="0"/>
                <a:cs typeface="Times New Roman" panose="02020603050405020304" pitchFamily="18" charset="0"/>
              </a:rPr>
              <a:t>ThreatModeling</a:t>
            </a:r>
            <a:r>
              <a:rPr lang="en-US" dirty="0">
                <a:latin typeface="Times New Roman" panose="02020603050405020304" pitchFamily="18" charset="0"/>
                <a:cs typeface="Times New Roman" panose="02020603050405020304" pitchFamily="18" charset="0"/>
              </a:rPr>
              <a:t>-LLM, our base paper), the system uses few-shot prompting of </a:t>
            </a:r>
            <a:r>
              <a:rPr lang="en-US" dirty="0" err="1">
                <a:latin typeface="Times New Roman" panose="02020603050405020304" pitchFamily="18" charset="0"/>
                <a:cs typeface="Times New Roman" panose="02020603050405020304" pitchFamily="18" charset="0"/>
              </a:rPr>
              <a:t>Groq's</a:t>
            </a:r>
            <a:r>
              <a:rPr lang="en-US" dirty="0">
                <a:latin typeface="Times New Roman" panose="02020603050405020304" pitchFamily="18" charset="0"/>
                <a:cs typeface="Times New Roman" panose="02020603050405020304" pitchFamily="18" charset="0"/>
              </a:rPr>
              <a:t> llama-3.3-70b-versatile model. Three carefully engineered prompts — a system persona prompt, two few-shot examples, and the actual DFD query — are assembled at runtime and submitted as a multi-turn conversation. The model is instructed to return structured JSON output only, enforced via </a:t>
            </a:r>
            <a:r>
              <a:rPr lang="en-US" dirty="0" err="1">
                <a:latin typeface="Times New Roman" panose="02020603050405020304" pitchFamily="18" charset="0"/>
                <a:cs typeface="Times New Roman" panose="02020603050405020304" pitchFamily="18" charset="0"/>
              </a:rPr>
              <a:t>response_format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json_object</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Partial DFD Handling — The Novel Contribution</a:t>
            </a:r>
            <a:r>
              <a:rPr lang="en-US" dirty="0">
                <a:latin typeface="Times New Roman" panose="02020603050405020304" pitchFamily="18" charset="0"/>
                <a:cs typeface="Times New Roman" panose="02020603050405020304" pitchFamily="18" charset="0"/>
              </a:rPr>
              <a:t> When a DFD is detected as partial (completeness score &lt; 0.8), the prompt is not changed or blocked. Instead, the system persona instructs the model to: produce findings regardless of information completeness, assign lower confidence levels (Medium or Low) when evidence is ambiguous, provide explicit reasoning for each confidence assignment, and note what specific information is absent. This allows the system to produce calibrated, useful output at every stage of design iteration — from a rough sketch with three nodes to a fully annotated architecture diagram.</a:t>
            </a:r>
          </a:p>
          <a:p>
            <a:r>
              <a:rPr lang="en-US" b="1" dirty="0">
                <a:latin typeface="Times New Roman" panose="02020603050405020304" pitchFamily="18" charset="0"/>
                <a:cs typeface="Times New Roman" panose="02020603050405020304" pitchFamily="18" charset="0"/>
              </a:rPr>
              <a:t>STRIDE Mapping</a:t>
            </a:r>
            <a:r>
              <a:rPr lang="en-US" dirty="0">
                <a:latin typeface="Times New Roman" panose="02020603050405020304" pitchFamily="18" charset="0"/>
                <a:cs typeface="Times New Roman" panose="02020603050405020304" pitchFamily="18" charset="0"/>
              </a:rPr>
              <a:t> Every threat finding is mapped to exactly one of six STRIDE categories. The mapping is performed by the LLM based on the semantic content of the DFD context. Post-inference, the response parser validates that each category is a </a:t>
            </a:r>
            <a:r>
              <a:rPr lang="en-US" dirty="0" err="1">
                <a:latin typeface="Times New Roman" panose="02020603050405020304" pitchFamily="18" charset="0"/>
                <a:cs typeface="Times New Roman" panose="02020603050405020304" pitchFamily="18" charset="0"/>
              </a:rPr>
              <a:t>recognised</a:t>
            </a:r>
            <a:r>
              <a:rPr lang="en-US" dirty="0">
                <a:latin typeface="Times New Roman" panose="02020603050405020304" pitchFamily="18" charset="0"/>
                <a:cs typeface="Times New Roman" panose="02020603050405020304" pitchFamily="18" charset="0"/>
              </a:rPr>
              <a:t> STRIDE value and applies fuzzy matching to correct minor labelling errors (e.g., "privilege escalation" → "Elevation of Privilege").</a:t>
            </a:r>
          </a:p>
          <a:p>
            <a:r>
              <a:rPr lang="en-US" b="1" dirty="0">
                <a:latin typeface="Times New Roman" panose="02020603050405020304" pitchFamily="18" charset="0"/>
                <a:cs typeface="Times New Roman" panose="02020603050405020304" pitchFamily="18" charset="0"/>
              </a:rPr>
              <a:t>Confidence Calibration</a:t>
            </a:r>
            <a:r>
              <a:rPr lang="en-US" dirty="0">
                <a:latin typeface="Times New Roman" panose="02020603050405020304" pitchFamily="18" charset="0"/>
                <a:cs typeface="Times New Roman" panose="02020603050405020304" pitchFamily="18" charset="0"/>
              </a:rPr>
              <a:t> Each finding carries one of three confidence levels. High confidence is assigned when explicit evidence exists in the DFD — for example, a trust boundary crossing with authenticated: false. Medium confidence is assigned when the risk is probable but some information is absent. Low confidence is assigned when the finding is inferential and the DFD lacks sufficient detail to confirm the threat. Confidence distribution shifts predictably as DFD completeness decreases — this is the empirical proof of the novel contribution.</a:t>
            </a:r>
          </a:p>
          <a:p>
            <a:r>
              <a:rPr lang="en-US" b="1" dirty="0">
                <a:latin typeface="Times New Roman" panose="02020603050405020304" pitchFamily="18" charset="0"/>
                <a:cs typeface="Times New Roman" panose="02020603050405020304" pitchFamily="18" charset="0"/>
              </a:rPr>
              <a:t>Retry and Robustness</a:t>
            </a:r>
            <a:r>
              <a:rPr lang="en-US" dirty="0">
                <a:latin typeface="Times New Roman" panose="02020603050405020304" pitchFamily="18" charset="0"/>
                <a:cs typeface="Times New Roman" panose="02020603050405020304" pitchFamily="18" charset="0"/>
              </a:rPr>
              <a:t> The inference engine implements a three-attempt retry loop with exponential backoff. If all attempts fail, a structured error report is returned — the pipeline never raises an unhandled exception. The response parser handles malformed JSON, markdown-wrapped JSON, and completely </a:t>
            </a:r>
            <a:r>
              <a:rPr lang="en-US" dirty="0" err="1">
                <a:latin typeface="Times New Roman" panose="02020603050405020304" pitchFamily="18" charset="0"/>
                <a:cs typeface="Times New Roman" panose="02020603050405020304" pitchFamily="18" charset="0"/>
              </a:rPr>
              <a:t>unparseable</a:t>
            </a:r>
            <a:r>
              <a:rPr lang="en-US" dirty="0">
                <a:latin typeface="Times New Roman" panose="02020603050405020304" pitchFamily="18" charset="0"/>
                <a:cs typeface="Times New Roman" panose="02020603050405020304" pitchFamily="18" charset="0"/>
              </a:rPr>
              <a:t> responses, always returning a schema-compliant dictionary.</a:t>
            </a:r>
          </a:p>
          <a:p>
            <a:r>
              <a:rPr lang="en-US" b="1" dirty="0">
                <a:latin typeface="Times New Roman" panose="02020603050405020304" pitchFamily="18" charset="0"/>
                <a:cs typeface="Times New Roman" panose="02020603050405020304" pitchFamily="18" charset="0"/>
              </a:rPr>
              <a:t>Evaluation</a:t>
            </a:r>
            <a:r>
              <a:rPr lang="en-US" dirty="0">
                <a:latin typeface="Times New Roman" panose="02020603050405020304" pitchFamily="18" charset="0"/>
                <a:cs typeface="Times New Roman" panose="02020603050405020304" pitchFamily="18" charset="0"/>
              </a:rPr>
              <a:t> The system is evaluated using Precision, Recall, and F1-Score computed per STRIDE category against ground-truth threat labels derived from </a:t>
            </a:r>
            <a:r>
              <a:rPr lang="en-US" dirty="0" err="1">
                <a:latin typeface="Times New Roman" panose="02020603050405020304" pitchFamily="18" charset="0"/>
                <a:cs typeface="Times New Roman" panose="02020603050405020304" pitchFamily="18" charset="0"/>
              </a:rPr>
              <a:t>microSecEnD</a:t>
            </a:r>
            <a:r>
              <a:rPr lang="en-US" dirty="0">
                <a:latin typeface="Times New Roman" panose="02020603050405020304" pitchFamily="18" charset="0"/>
                <a:cs typeface="Times New Roman" panose="02020603050405020304" pitchFamily="18" charset="0"/>
              </a:rPr>
              <a:t>. A degradation experiment validates partial DFD handling by progressively removing trust boundaries, authentication fields, encryption fields, and protocols from complete DFDs and measuring confidence distribution shifts.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051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0AA83-96F5-3D35-9986-94960BF543F8}"/>
            </a:ext>
          </a:extLst>
        </p:cNvPr>
        <p:cNvGrpSpPr/>
        <p:nvPr/>
      </p:nvGrpSpPr>
      <p:grpSpPr>
        <a:xfrm>
          <a:off x="0" y="0"/>
          <a:ext cx="0" cy="0"/>
          <a:chOff x="0" y="0"/>
          <a:chExt cx="0" cy="0"/>
        </a:xfrm>
      </p:grpSpPr>
      <p:sp>
        <p:nvSpPr>
          <p:cNvPr id="4" name="Google Shape;166;p12">
            <a:extLst>
              <a:ext uri="{FF2B5EF4-FFF2-40B4-BE49-F238E27FC236}">
                <a16:creationId xmlns:a16="http://schemas.microsoft.com/office/drawing/2014/main" id="{33B0E502-1228-AE37-399E-9E84A202C661}"/>
              </a:ext>
            </a:extLst>
          </p:cNvPr>
          <p:cNvSpPr/>
          <p:nvPr/>
        </p:nvSpPr>
        <p:spPr>
          <a:xfrm>
            <a:off x="369277" y="365125"/>
            <a:ext cx="11579469"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TextBox 4">
            <a:extLst>
              <a:ext uri="{FF2B5EF4-FFF2-40B4-BE49-F238E27FC236}">
                <a16:creationId xmlns:a16="http://schemas.microsoft.com/office/drawing/2014/main" id="{2E899292-A5B2-5168-E61F-AB59E0EE5E64}"/>
              </a:ext>
            </a:extLst>
          </p:cNvPr>
          <p:cNvSpPr txBox="1"/>
          <p:nvPr/>
        </p:nvSpPr>
        <p:spPr>
          <a:xfrm>
            <a:off x="539496" y="603504"/>
            <a:ext cx="10515600" cy="59436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69AE0183-ABD8-A50E-0948-8671CDFC995C}"/>
              </a:ext>
            </a:extLst>
          </p:cNvPr>
          <p:cNvSpPr txBox="1"/>
          <p:nvPr/>
        </p:nvSpPr>
        <p:spPr>
          <a:xfrm>
            <a:off x="539496" y="603504"/>
            <a:ext cx="10661904"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  ARCHITECTURE DIAGRAM</a:t>
            </a:r>
          </a:p>
        </p:txBody>
      </p:sp>
      <p:sp>
        <p:nvSpPr>
          <p:cNvPr id="3" name="TextBox 2">
            <a:extLst>
              <a:ext uri="{FF2B5EF4-FFF2-40B4-BE49-F238E27FC236}">
                <a16:creationId xmlns:a16="http://schemas.microsoft.com/office/drawing/2014/main" id="{E10D9D07-D86D-935C-8278-E68783267851}"/>
              </a:ext>
            </a:extLst>
          </p:cNvPr>
          <p:cNvSpPr txBox="1"/>
          <p:nvPr/>
        </p:nvSpPr>
        <p:spPr>
          <a:xfrm>
            <a:off x="438912" y="1197864"/>
            <a:ext cx="11383811" cy="1815882"/>
          </a:xfrm>
          <a:prstGeom prst="rect">
            <a:avLst/>
          </a:prstGeom>
          <a:noFill/>
        </p:spPr>
        <p:txBody>
          <a:bodyPr wrap="square" rtlCol="0">
            <a:spAutoFit/>
          </a:bodyPr>
          <a:lstStyle/>
          <a:p>
            <a:r>
              <a:rPr lang="en-US"/>
              <a:t>The SecureByDesign pipeline consists of five sequential layers. The Physical Input Layer accepts a DFD in JSON format alongside an optional plain-English security context string. The Pre-Processing Layer parses nodes by type, extracts edge security properties, detects trust boundary crossings, computes a completeness score, and serialises the DFD into a structured text summary. The Prompt Engineering Layer assembles a multi-turn conversation — a STRIDE expert system prompt, two few-shot examples covering complete and partial DFDs, and the current DFD query — and submits it to the Groq API. The Inference Layer calls llama-3.3-70b-versatile with response_format: json_object enforced, parses the returned JSON, validates all STRIDE categories, normalises confidence values, and recomputes STRIDE coverage counts. The Output Layer produces a schema-compliant threat report containing overall risk level, per-threat findings with explanations and confidence levels, missing controls summary, and STRIDE coverage breakdown.</a:t>
            </a:r>
            <a:endParaRPr lang="en-IN"/>
          </a:p>
        </p:txBody>
      </p:sp>
    </p:spTree>
    <p:extLst>
      <p:ext uri="{BB962C8B-B14F-4D97-AF65-F5344CB8AC3E}">
        <p14:creationId xmlns:p14="http://schemas.microsoft.com/office/powerpoint/2010/main" val="3317302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57552-1491-3EB2-EA65-03DE9270A7C1}"/>
            </a:ext>
          </a:extLst>
        </p:cNvPr>
        <p:cNvGrpSpPr/>
        <p:nvPr/>
      </p:nvGrpSpPr>
      <p:grpSpPr>
        <a:xfrm>
          <a:off x="0" y="0"/>
          <a:ext cx="0" cy="0"/>
          <a:chOff x="0" y="0"/>
          <a:chExt cx="0" cy="0"/>
        </a:xfrm>
      </p:grpSpPr>
      <p:sp>
        <p:nvSpPr>
          <p:cNvPr id="4" name="Google Shape;166;p12">
            <a:extLst>
              <a:ext uri="{FF2B5EF4-FFF2-40B4-BE49-F238E27FC236}">
                <a16:creationId xmlns:a16="http://schemas.microsoft.com/office/drawing/2014/main" id="{060B3BDA-DB0B-4866-EBC9-63EC6ACA3795}"/>
              </a:ext>
            </a:extLst>
          </p:cNvPr>
          <p:cNvSpPr/>
          <p:nvPr/>
        </p:nvSpPr>
        <p:spPr>
          <a:xfrm>
            <a:off x="369277" y="365125"/>
            <a:ext cx="11579469"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TextBox 4">
            <a:extLst>
              <a:ext uri="{FF2B5EF4-FFF2-40B4-BE49-F238E27FC236}">
                <a16:creationId xmlns:a16="http://schemas.microsoft.com/office/drawing/2014/main" id="{6BA22144-5062-67D4-AF15-2C8D5D4C63E0}"/>
              </a:ext>
            </a:extLst>
          </p:cNvPr>
          <p:cNvSpPr txBox="1"/>
          <p:nvPr/>
        </p:nvSpPr>
        <p:spPr>
          <a:xfrm>
            <a:off x="539496" y="603504"/>
            <a:ext cx="10515600" cy="59436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5B799443-C47F-7315-76D7-F4374CC7163B}"/>
              </a:ext>
            </a:extLst>
          </p:cNvPr>
          <p:cNvSpPr txBox="1"/>
          <p:nvPr/>
        </p:nvSpPr>
        <p:spPr>
          <a:xfrm>
            <a:off x="466344" y="603504"/>
            <a:ext cx="10131552"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   RESULTS</a:t>
            </a:r>
          </a:p>
        </p:txBody>
      </p:sp>
      <p:sp>
        <p:nvSpPr>
          <p:cNvPr id="3" name="TextBox 2">
            <a:extLst>
              <a:ext uri="{FF2B5EF4-FFF2-40B4-BE49-F238E27FC236}">
                <a16:creationId xmlns:a16="http://schemas.microsoft.com/office/drawing/2014/main" id="{72B299E9-D590-A43B-504F-81183B3A7ADE}"/>
              </a:ext>
            </a:extLst>
          </p:cNvPr>
          <p:cNvSpPr txBox="1"/>
          <p:nvPr/>
        </p:nvSpPr>
        <p:spPr>
          <a:xfrm>
            <a:off x="466344" y="1197864"/>
            <a:ext cx="11356379" cy="310854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system was evaluated on 15 labeled test DFDs derived from the </a:t>
            </a:r>
            <a:r>
              <a:rPr lang="en-US" dirty="0" err="1">
                <a:latin typeface="Times New Roman" panose="02020603050405020304" pitchFamily="18" charset="0"/>
                <a:cs typeface="Times New Roman" panose="02020603050405020304" pitchFamily="18" charset="0"/>
              </a:rPr>
              <a:t>microSecEnD</a:t>
            </a:r>
            <a:r>
              <a:rPr lang="en-US" dirty="0">
                <a:latin typeface="Times New Roman" panose="02020603050405020304" pitchFamily="18" charset="0"/>
                <a:cs typeface="Times New Roman" panose="02020603050405020304" pitchFamily="18" charset="0"/>
              </a:rPr>
              <a:t> dataset, covering microservice architectures including API gateways, authentication services, payment systems, and messaging pipelines. Ground-truth STRIDE threat labels were manually verified for each test case. A separate degradation experiment validated the novel partial DFD handling capability by progressively removing security information from complete diagrams. </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Table 1 – Overall Evaluation Metrics</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IN" dirty="0"/>
          </a:p>
        </p:txBody>
      </p:sp>
      <p:graphicFrame>
        <p:nvGraphicFramePr>
          <p:cNvPr id="12" name="Table 11">
            <a:extLst>
              <a:ext uri="{FF2B5EF4-FFF2-40B4-BE49-F238E27FC236}">
                <a16:creationId xmlns:a16="http://schemas.microsoft.com/office/drawing/2014/main" id="{758C9F95-EFB7-E0D4-41F5-FD4C54BDB764}"/>
              </a:ext>
            </a:extLst>
          </p:cNvPr>
          <p:cNvGraphicFramePr>
            <a:graphicFrameLocks noGrp="1"/>
          </p:cNvGraphicFramePr>
          <p:nvPr>
            <p:extLst>
              <p:ext uri="{D42A27DB-BD31-4B8C-83A1-F6EECF244321}">
                <p14:modId xmlns:p14="http://schemas.microsoft.com/office/powerpoint/2010/main" val="4022919102"/>
              </p:ext>
            </p:extLst>
          </p:nvPr>
        </p:nvGraphicFramePr>
        <p:xfrm>
          <a:off x="838200" y="2782094"/>
          <a:ext cx="10515600" cy="2438400"/>
        </p:xfrm>
        <a:graphic>
          <a:graphicData uri="http://schemas.openxmlformats.org/drawingml/2006/table">
            <a:tbl>
              <a:tblPr/>
              <a:tblGrid>
                <a:gridCol w="5257800">
                  <a:extLst>
                    <a:ext uri="{9D8B030D-6E8A-4147-A177-3AD203B41FA5}">
                      <a16:colId xmlns:a16="http://schemas.microsoft.com/office/drawing/2014/main" val="974974375"/>
                    </a:ext>
                  </a:extLst>
                </a:gridCol>
                <a:gridCol w="5257800">
                  <a:extLst>
                    <a:ext uri="{9D8B030D-6E8A-4147-A177-3AD203B41FA5}">
                      <a16:colId xmlns:a16="http://schemas.microsoft.com/office/drawing/2014/main" val="2581290201"/>
                    </a:ext>
                  </a:extLst>
                </a:gridCol>
              </a:tblGrid>
              <a:tr h="0">
                <a:tc>
                  <a:txBody>
                    <a:bodyPr/>
                    <a:lstStyle/>
                    <a:p>
                      <a:pPr>
                        <a:buNone/>
                      </a:pPr>
                      <a:r>
                        <a:rPr lang="en-IN"/>
                        <a:t>Metric</a:t>
                      </a:r>
                    </a:p>
                  </a:txBody>
                  <a:tcPr anchor="ctr">
                    <a:lnL>
                      <a:noFill/>
                    </a:lnL>
                    <a:lnR>
                      <a:noFill/>
                    </a:lnR>
                    <a:lnT>
                      <a:noFill/>
                    </a:lnT>
                    <a:lnB>
                      <a:noFill/>
                    </a:lnB>
                    <a:noFill/>
                  </a:tcPr>
                </a:tc>
                <a:tc>
                  <a:txBody>
                    <a:bodyPr/>
                    <a:lstStyle/>
                    <a:p>
                      <a:pPr>
                        <a:buNone/>
                      </a:pPr>
                      <a:r>
                        <a:rPr lang="en-IN"/>
                        <a:t>Value</a:t>
                      </a:r>
                    </a:p>
                  </a:txBody>
                  <a:tcPr anchor="ctr">
                    <a:lnL>
                      <a:noFill/>
                    </a:lnL>
                    <a:lnR>
                      <a:noFill/>
                    </a:lnR>
                    <a:lnT>
                      <a:noFill/>
                    </a:lnT>
                    <a:lnB>
                      <a:noFill/>
                    </a:lnB>
                    <a:noFill/>
                  </a:tcPr>
                </a:tc>
                <a:extLst>
                  <a:ext uri="{0D108BD9-81ED-4DB2-BD59-A6C34878D82A}">
                    <a16:rowId xmlns:a16="http://schemas.microsoft.com/office/drawing/2014/main" val="156946333"/>
                  </a:ext>
                </a:extLst>
              </a:tr>
              <a:tr h="0">
                <a:tc>
                  <a:txBody>
                    <a:bodyPr/>
                    <a:lstStyle/>
                    <a:p>
                      <a:pPr>
                        <a:buNone/>
                      </a:pPr>
                      <a:r>
                        <a:rPr lang="en-IN"/>
                        <a:t>Total Test DFDs</a:t>
                      </a:r>
                    </a:p>
                  </a:txBody>
                  <a:tcPr anchor="ctr">
                    <a:lnL>
                      <a:noFill/>
                    </a:lnL>
                    <a:lnR>
                      <a:noFill/>
                    </a:lnR>
                    <a:lnT>
                      <a:noFill/>
                    </a:lnT>
                    <a:lnB>
                      <a:noFill/>
                    </a:lnB>
                    <a:noFill/>
                  </a:tcPr>
                </a:tc>
                <a:tc>
                  <a:txBody>
                    <a:bodyPr/>
                    <a:lstStyle/>
                    <a:p>
                      <a:pPr>
                        <a:buNone/>
                      </a:pPr>
                      <a:r>
                        <a:rPr lang="en-IN"/>
                        <a:t>15</a:t>
                      </a:r>
                    </a:p>
                  </a:txBody>
                  <a:tcPr anchor="ctr">
                    <a:lnL>
                      <a:noFill/>
                    </a:lnL>
                    <a:lnR>
                      <a:noFill/>
                    </a:lnR>
                    <a:lnT>
                      <a:noFill/>
                    </a:lnT>
                    <a:lnB>
                      <a:noFill/>
                    </a:lnB>
                    <a:noFill/>
                  </a:tcPr>
                </a:tc>
                <a:extLst>
                  <a:ext uri="{0D108BD9-81ED-4DB2-BD59-A6C34878D82A}">
                    <a16:rowId xmlns:a16="http://schemas.microsoft.com/office/drawing/2014/main" val="1259106767"/>
                  </a:ext>
                </a:extLst>
              </a:tr>
              <a:tr h="0">
                <a:tc>
                  <a:txBody>
                    <a:bodyPr/>
                    <a:lstStyle/>
                    <a:p>
                      <a:pPr>
                        <a:buNone/>
                      </a:pPr>
                      <a:r>
                        <a:rPr lang="en-IN"/>
                        <a:t>Macro Precision</a:t>
                      </a:r>
                    </a:p>
                  </a:txBody>
                  <a:tcPr anchor="ctr">
                    <a:lnL>
                      <a:noFill/>
                    </a:lnL>
                    <a:lnR>
                      <a:noFill/>
                    </a:lnR>
                    <a:lnT>
                      <a:noFill/>
                    </a:lnT>
                    <a:lnB>
                      <a:noFill/>
                    </a:lnB>
                    <a:noFill/>
                  </a:tcPr>
                </a:tc>
                <a:tc>
                  <a:txBody>
                    <a:bodyPr/>
                    <a:lstStyle/>
                    <a:p>
                      <a:pPr>
                        <a:buNone/>
                      </a:pPr>
                      <a:r>
                        <a:rPr lang="en-IN" dirty="0"/>
                        <a:t>0.83</a:t>
                      </a:r>
                    </a:p>
                  </a:txBody>
                  <a:tcPr anchor="ctr">
                    <a:lnL>
                      <a:noFill/>
                    </a:lnL>
                    <a:lnR>
                      <a:noFill/>
                    </a:lnR>
                    <a:lnT>
                      <a:noFill/>
                    </a:lnT>
                    <a:lnB>
                      <a:noFill/>
                    </a:lnB>
                    <a:noFill/>
                  </a:tcPr>
                </a:tc>
                <a:extLst>
                  <a:ext uri="{0D108BD9-81ED-4DB2-BD59-A6C34878D82A}">
                    <a16:rowId xmlns:a16="http://schemas.microsoft.com/office/drawing/2014/main" val="1108173447"/>
                  </a:ext>
                </a:extLst>
              </a:tr>
              <a:tr h="0">
                <a:tc>
                  <a:txBody>
                    <a:bodyPr/>
                    <a:lstStyle/>
                    <a:p>
                      <a:pPr>
                        <a:buNone/>
                      </a:pPr>
                      <a:r>
                        <a:rPr lang="en-IN"/>
                        <a:t>Macro Recall</a:t>
                      </a:r>
                    </a:p>
                  </a:txBody>
                  <a:tcPr anchor="ctr">
                    <a:lnL>
                      <a:noFill/>
                    </a:lnL>
                    <a:lnR>
                      <a:noFill/>
                    </a:lnR>
                    <a:lnT>
                      <a:noFill/>
                    </a:lnT>
                    <a:lnB>
                      <a:noFill/>
                    </a:lnB>
                    <a:noFill/>
                  </a:tcPr>
                </a:tc>
                <a:tc>
                  <a:txBody>
                    <a:bodyPr/>
                    <a:lstStyle/>
                    <a:p>
                      <a:pPr>
                        <a:buNone/>
                      </a:pPr>
                      <a:r>
                        <a:rPr lang="en-IN" dirty="0"/>
                        <a:t>0.81</a:t>
                      </a:r>
                    </a:p>
                  </a:txBody>
                  <a:tcPr anchor="ctr">
                    <a:lnL>
                      <a:noFill/>
                    </a:lnL>
                    <a:lnR>
                      <a:noFill/>
                    </a:lnR>
                    <a:lnT>
                      <a:noFill/>
                    </a:lnT>
                    <a:lnB>
                      <a:noFill/>
                    </a:lnB>
                    <a:noFill/>
                  </a:tcPr>
                </a:tc>
                <a:extLst>
                  <a:ext uri="{0D108BD9-81ED-4DB2-BD59-A6C34878D82A}">
                    <a16:rowId xmlns:a16="http://schemas.microsoft.com/office/drawing/2014/main" val="2294577133"/>
                  </a:ext>
                </a:extLst>
              </a:tr>
              <a:tr h="0">
                <a:tc>
                  <a:txBody>
                    <a:bodyPr/>
                    <a:lstStyle/>
                    <a:p>
                      <a:pPr>
                        <a:buNone/>
                      </a:pPr>
                      <a:r>
                        <a:rPr lang="en-IN"/>
                        <a:t>Macro F1-Score</a:t>
                      </a:r>
                    </a:p>
                  </a:txBody>
                  <a:tcPr anchor="ctr">
                    <a:lnL>
                      <a:noFill/>
                    </a:lnL>
                    <a:lnR>
                      <a:noFill/>
                    </a:lnR>
                    <a:lnT>
                      <a:noFill/>
                    </a:lnT>
                    <a:lnB>
                      <a:noFill/>
                    </a:lnB>
                    <a:noFill/>
                  </a:tcPr>
                </a:tc>
                <a:tc>
                  <a:txBody>
                    <a:bodyPr/>
                    <a:lstStyle/>
                    <a:p>
                      <a:pPr>
                        <a:buNone/>
                      </a:pPr>
                      <a:r>
                        <a:rPr lang="en-IN" dirty="0"/>
                        <a:t>0.82</a:t>
                      </a:r>
                    </a:p>
                  </a:txBody>
                  <a:tcPr anchor="ctr">
                    <a:lnL>
                      <a:noFill/>
                    </a:lnL>
                    <a:lnR>
                      <a:noFill/>
                    </a:lnR>
                    <a:lnT>
                      <a:noFill/>
                    </a:lnT>
                    <a:lnB>
                      <a:noFill/>
                    </a:lnB>
                    <a:noFill/>
                  </a:tcPr>
                </a:tc>
                <a:extLst>
                  <a:ext uri="{0D108BD9-81ED-4DB2-BD59-A6C34878D82A}">
                    <a16:rowId xmlns:a16="http://schemas.microsoft.com/office/drawing/2014/main" val="653586652"/>
                  </a:ext>
                </a:extLst>
              </a:tr>
              <a:tr h="0">
                <a:tc>
                  <a:txBody>
                    <a:bodyPr/>
                    <a:lstStyle/>
                    <a:p>
                      <a:pPr>
                        <a:buNone/>
                      </a:pPr>
                      <a:r>
                        <a:rPr lang="en-IN"/>
                        <a:t>Average Threats per DFD</a:t>
                      </a:r>
                    </a:p>
                  </a:txBody>
                  <a:tcPr anchor="ctr">
                    <a:lnL>
                      <a:noFill/>
                    </a:lnL>
                    <a:lnR>
                      <a:noFill/>
                    </a:lnR>
                    <a:lnT>
                      <a:noFill/>
                    </a:lnT>
                    <a:lnB>
                      <a:noFill/>
                    </a:lnB>
                    <a:noFill/>
                  </a:tcPr>
                </a:tc>
                <a:tc>
                  <a:txBody>
                    <a:bodyPr/>
                    <a:lstStyle/>
                    <a:p>
                      <a:pPr>
                        <a:buNone/>
                      </a:pPr>
                      <a:r>
                        <a:rPr lang="en-IN"/>
                        <a:t>3.8</a:t>
                      </a:r>
                    </a:p>
                  </a:txBody>
                  <a:tcPr anchor="ctr">
                    <a:lnL>
                      <a:noFill/>
                    </a:lnL>
                    <a:lnR>
                      <a:noFill/>
                    </a:lnR>
                    <a:lnT>
                      <a:noFill/>
                    </a:lnT>
                    <a:lnB>
                      <a:noFill/>
                    </a:lnB>
                    <a:noFill/>
                  </a:tcPr>
                </a:tc>
                <a:extLst>
                  <a:ext uri="{0D108BD9-81ED-4DB2-BD59-A6C34878D82A}">
                    <a16:rowId xmlns:a16="http://schemas.microsoft.com/office/drawing/2014/main" val="2853976913"/>
                  </a:ext>
                </a:extLst>
              </a:tr>
              <a:tr h="0">
                <a:tc>
                  <a:txBody>
                    <a:bodyPr/>
                    <a:lstStyle/>
                    <a:p>
                      <a:pPr>
                        <a:buNone/>
                      </a:pPr>
                      <a:r>
                        <a:rPr lang="en-IN"/>
                        <a:t>Average Analysis Duration</a:t>
                      </a:r>
                    </a:p>
                  </a:txBody>
                  <a:tcPr anchor="ctr">
                    <a:lnL>
                      <a:noFill/>
                    </a:lnL>
                    <a:lnR>
                      <a:noFill/>
                    </a:lnR>
                    <a:lnT>
                      <a:noFill/>
                    </a:lnT>
                    <a:lnB>
                      <a:noFill/>
                    </a:lnB>
                    <a:noFill/>
                  </a:tcPr>
                </a:tc>
                <a:tc>
                  <a:txBody>
                    <a:bodyPr/>
                    <a:lstStyle/>
                    <a:p>
                      <a:pPr>
                        <a:buNone/>
                      </a:pPr>
                      <a:r>
                        <a:rPr lang="en-IN"/>
                        <a:t>~3.2 seconds</a:t>
                      </a:r>
                    </a:p>
                  </a:txBody>
                  <a:tcPr anchor="ctr">
                    <a:lnL>
                      <a:noFill/>
                    </a:lnL>
                    <a:lnR>
                      <a:noFill/>
                    </a:lnR>
                    <a:lnT>
                      <a:noFill/>
                    </a:lnT>
                    <a:lnB>
                      <a:noFill/>
                    </a:lnB>
                    <a:noFill/>
                  </a:tcPr>
                </a:tc>
                <a:extLst>
                  <a:ext uri="{0D108BD9-81ED-4DB2-BD59-A6C34878D82A}">
                    <a16:rowId xmlns:a16="http://schemas.microsoft.com/office/drawing/2014/main" val="2530079912"/>
                  </a:ext>
                </a:extLst>
              </a:tr>
              <a:tr h="0">
                <a:tc>
                  <a:txBody>
                    <a:bodyPr/>
                    <a:lstStyle/>
                    <a:p>
                      <a:pPr>
                        <a:buNone/>
                      </a:pPr>
                      <a:r>
                        <a:rPr lang="en-IN"/>
                        <a:t>API Calls Failed</a:t>
                      </a:r>
                    </a:p>
                  </a:txBody>
                  <a:tcPr anchor="ctr">
                    <a:lnL>
                      <a:noFill/>
                    </a:lnL>
                    <a:lnR>
                      <a:noFill/>
                    </a:lnR>
                    <a:lnT>
                      <a:noFill/>
                    </a:lnT>
                    <a:lnB>
                      <a:noFill/>
                    </a:lnB>
                    <a:noFill/>
                  </a:tcPr>
                </a:tc>
                <a:tc>
                  <a:txBody>
                    <a:bodyPr/>
                    <a:lstStyle/>
                    <a:p>
                      <a:pPr>
                        <a:buNone/>
                      </a:pPr>
                      <a:r>
                        <a:rPr lang="en-IN" dirty="0"/>
                        <a:t>0 / 15</a:t>
                      </a:r>
                    </a:p>
                  </a:txBody>
                  <a:tcPr anchor="ctr">
                    <a:lnL>
                      <a:noFill/>
                    </a:lnL>
                    <a:lnR>
                      <a:noFill/>
                    </a:lnR>
                    <a:lnT>
                      <a:noFill/>
                    </a:lnT>
                    <a:lnB>
                      <a:noFill/>
                    </a:lnB>
                    <a:noFill/>
                  </a:tcPr>
                </a:tc>
                <a:extLst>
                  <a:ext uri="{0D108BD9-81ED-4DB2-BD59-A6C34878D82A}">
                    <a16:rowId xmlns:a16="http://schemas.microsoft.com/office/drawing/2014/main" val="2966554600"/>
                  </a:ext>
                </a:extLst>
              </a:tr>
            </a:tbl>
          </a:graphicData>
        </a:graphic>
      </p:graphicFrame>
      <p:graphicFrame>
        <p:nvGraphicFramePr>
          <p:cNvPr id="13" name="Table 12">
            <a:extLst>
              <a:ext uri="{FF2B5EF4-FFF2-40B4-BE49-F238E27FC236}">
                <a16:creationId xmlns:a16="http://schemas.microsoft.com/office/drawing/2014/main" id="{D712A10C-B38A-E374-C725-4A4A6B30C929}"/>
              </a:ext>
            </a:extLst>
          </p:cNvPr>
          <p:cNvGraphicFramePr>
            <a:graphicFrameLocks noGrp="1"/>
          </p:cNvGraphicFramePr>
          <p:nvPr>
            <p:extLst>
              <p:ext uri="{D42A27DB-BD31-4B8C-83A1-F6EECF244321}">
                <p14:modId xmlns:p14="http://schemas.microsoft.com/office/powerpoint/2010/main" val="2254316878"/>
              </p:ext>
            </p:extLst>
          </p:nvPr>
        </p:nvGraphicFramePr>
        <p:xfrm>
          <a:off x="539496" y="2693416"/>
          <a:ext cx="8128000" cy="2581656"/>
        </p:xfrm>
        <a:graphic>
          <a:graphicData uri="http://schemas.openxmlformats.org/drawingml/2006/table">
            <a:tbl>
              <a:tblPr firstRow="1" bandRow="1">
                <a:tableStyleId>{B37A727E-7320-4C0F-8189-BD014B1F7B10}</a:tableStyleId>
              </a:tblPr>
              <a:tblGrid>
                <a:gridCol w="4064000">
                  <a:extLst>
                    <a:ext uri="{9D8B030D-6E8A-4147-A177-3AD203B41FA5}">
                      <a16:colId xmlns:a16="http://schemas.microsoft.com/office/drawing/2014/main" val="2233524276"/>
                    </a:ext>
                  </a:extLst>
                </a:gridCol>
                <a:gridCol w="4064000">
                  <a:extLst>
                    <a:ext uri="{9D8B030D-6E8A-4147-A177-3AD203B41FA5}">
                      <a16:colId xmlns:a16="http://schemas.microsoft.com/office/drawing/2014/main" val="2521916539"/>
                    </a:ext>
                  </a:extLst>
                </a:gridCol>
              </a:tblGrid>
              <a:tr h="415544">
                <a:tc>
                  <a:txBody>
                    <a:bodyPr/>
                    <a:lstStyle/>
                    <a:p>
                      <a:endParaRPr lang="en-IN"/>
                    </a:p>
                  </a:txBody>
                  <a:tcPr/>
                </a:tc>
                <a:tc>
                  <a:txBody>
                    <a:bodyPr/>
                    <a:lstStyle/>
                    <a:p>
                      <a:endParaRPr lang="en-IN"/>
                    </a:p>
                  </a:txBody>
                  <a:tcPr/>
                </a:tc>
                <a:extLst>
                  <a:ext uri="{0D108BD9-81ED-4DB2-BD59-A6C34878D82A}">
                    <a16:rowId xmlns:a16="http://schemas.microsoft.com/office/drawing/2014/main" val="1449403567"/>
                  </a:ext>
                </a:extLst>
              </a:tr>
              <a:tr h="337312">
                <a:tc>
                  <a:txBody>
                    <a:bodyPr/>
                    <a:lstStyle/>
                    <a:p>
                      <a:endParaRPr lang="en-IN"/>
                    </a:p>
                  </a:txBody>
                  <a:tcPr/>
                </a:tc>
                <a:tc>
                  <a:txBody>
                    <a:bodyPr/>
                    <a:lstStyle/>
                    <a:p>
                      <a:endParaRPr lang="en-IN"/>
                    </a:p>
                  </a:txBody>
                  <a:tcPr/>
                </a:tc>
                <a:extLst>
                  <a:ext uri="{0D108BD9-81ED-4DB2-BD59-A6C34878D82A}">
                    <a16:rowId xmlns:a16="http://schemas.microsoft.com/office/drawing/2014/main" val="3056131009"/>
                  </a:ext>
                </a:extLst>
              </a:tr>
              <a:tr h="247904">
                <a:tc>
                  <a:txBody>
                    <a:bodyPr/>
                    <a:lstStyle/>
                    <a:p>
                      <a:endParaRPr lang="en-IN"/>
                    </a:p>
                  </a:txBody>
                  <a:tcPr/>
                </a:tc>
                <a:tc>
                  <a:txBody>
                    <a:bodyPr/>
                    <a:lstStyle/>
                    <a:p>
                      <a:r>
                        <a:rPr lang="en-IN" dirty="0"/>
                        <a:t>                                           </a:t>
                      </a:r>
                    </a:p>
                  </a:txBody>
                  <a:tcPr/>
                </a:tc>
                <a:extLst>
                  <a:ext uri="{0D108BD9-81ED-4DB2-BD59-A6C34878D82A}">
                    <a16:rowId xmlns:a16="http://schemas.microsoft.com/office/drawing/2014/main" val="4205479484"/>
                  </a:ext>
                </a:extLst>
              </a:tr>
              <a:tr h="272288">
                <a:tc>
                  <a:txBody>
                    <a:bodyPr/>
                    <a:lstStyle/>
                    <a:p>
                      <a:endParaRPr lang="en-IN"/>
                    </a:p>
                  </a:txBody>
                  <a:tcPr/>
                </a:tc>
                <a:tc>
                  <a:txBody>
                    <a:bodyPr/>
                    <a:lstStyle/>
                    <a:p>
                      <a:endParaRPr lang="en-IN"/>
                    </a:p>
                  </a:txBody>
                  <a:tcPr/>
                </a:tc>
                <a:extLst>
                  <a:ext uri="{0D108BD9-81ED-4DB2-BD59-A6C34878D82A}">
                    <a16:rowId xmlns:a16="http://schemas.microsoft.com/office/drawing/2014/main" val="329293438"/>
                  </a:ext>
                </a:extLst>
              </a:tr>
              <a:tr h="269240">
                <a:tc>
                  <a:txBody>
                    <a:bodyPr/>
                    <a:lstStyle/>
                    <a:p>
                      <a:endParaRPr lang="en-IN" dirty="0"/>
                    </a:p>
                  </a:txBody>
                  <a:tcPr/>
                </a:tc>
                <a:tc>
                  <a:txBody>
                    <a:bodyPr/>
                    <a:lstStyle/>
                    <a:p>
                      <a:endParaRPr lang="en-IN"/>
                    </a:p>
                  </a:txBody>
                  <a:tcPr/>
                </a:tc>
                <a:extLst>
                  <a:ext uri="{0D108BD9-81ED-4DB2-BD59-A6C34878D82A}">
                    <a16:rowId xmlns:a16="http://schemas.microsoft.com/office/drawing/2014/main" val="207856688"/>
                  </a:ext>
                </a:extLst>
              </a:tr>
              <a:tr h="275336">
                <a:tc>
                  <a:txBody>
                    <a:bodyPr/>
                    <a:lstStyle/>
                    <a:p>
                      <a:endParaRPr lang="en-IN"/>
                    </a:p>
                  </a:txBody>
                  <a:tcPr/>
                </a:tc>
                <a:tc>
                  <a:txBody>
                    <a:bodyPr/>
                    <a:lstStyle/>
                    <a:p>
                      <a:endParaRPr lang="en-IN"/>
                    </a:p>
                  </a:txBody>
                  <a:tcPr/>
                </a:tc>
                <a:extLst>
                  <a:ext uri="{0D108BD9-81ED-4DB2-BD59-A6C34878D82A}">
                    <a16:rowId xmlns:a16="http://schemas.microsoft.com/office/drawing/2014/main" val="2679479747"/>
                  </a:ext>
                </a:extLst>
              </a:tr>
              <a:tr h="152400">
                <a:tc>
                  <a:txBody>
                    <a:bodyPr/>
                    <a:lstStyle/>
                    <a:p>
                      <a:endParaRPr lang="en-IN"/>
                    </a:p>
                  </a:txBody>
                  <a:tcPr/>
                </a:tc>
                <a:tc>
                  <a:txBody>
                    <a:bodyPr/>
                    <a:lstStyle/>
                    <a:p>
                      <a:endParaRPr lang="en-IN"/>
                    </a:p>
                  </a:txBody>
                  <a:tcPr/>
                </a:tc>
                <a:extLst>
                  <a:ext uri="{0D108BD9-81ED-4DB2-BD59-A6C34878D82A}">
                    <a16:rowId xmlns:a16="http://schemas.microsoft.com/office/drawing/2014/main" val="1542299010"/>
                  </a:ext>
                </a:extLst>
              </a:tr>
              <a:tr h="241808">
                <a:tc>
                  <a:txBody>
                    <a:bodyPr/>
                    <a:lstStyle/>
                    <a:p>
                      <a:endParaRPr lang="en-IN"/>
                    </a:p>
                  </a:txBody>
                  <a:tcPr/>
                </a:tc>
                <a:tc>
                  <a:txBody>
                    <a:bodyPr/>
                    <a:lstStyle/>
                    <a:p>
                      <a:endParaRPr lang="en-IN" dirty="0"/>
                    </a:p>
                  </a:txBody>
                  <a:tcPr/>
                </a:tc>
                <a:extLst>
                  <a:ext uri="{0D108BD9-81ED-4DB2-BD59-A6C34878D82A}">
                    <a16:rowId xmlns:a16="http://schemas.microsoft.com/office/drawing/2014/main" val="3619286647"/>
                  </a:ext>
                </a:extLst>
              </a:tr>
            </a:tbl>
          </a:graphicData>
        </a:graphic>
      </p:graphicFrame>
    </p:spTree>
    <p:extLst>
      <p:ext uri="{BB962C8B-B14F-4D97-AF65-F5344CB8AC3E}">
        <p14:creationId xmlns:p14="http://schemas.microsoft.com/office/powerpoint/2010/main" val="3685431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05EC7-7980-3807-F3AB-71035A066886}"/>
            </a:ext>
          </a:extLst>
        </p:cNvPr>
        <p:cNvGrpSpPr/>
        <p:nvPr/>
      </p:nvGrpSpPr>
      <p:grpSpPr>
        <a:xfrm>
          <a:off x="0" y="0"/>
          <a:ext cx="0" cy="0"/>
          <a:chOff x="0" y="0"/>
          <a:chExt cx="0" cy="0"/>
        </a:xfrm>
      </p:grpSpPr>
      <p:sp>
        <p:nvSpPr>
          <p:cNvPr id="4" name="Google Shape;166;p12">
            <a:extLst>
              <a:ext uri="{FF2B5EF4-FFF2-40B4-BE49-F238E27FC236}">
                <a16:creationId xmlns:a16="http://schemas.microsoft.com/office/drawing/2014/main" id="{493569C5-322D-49D5-4482-B1DBAB7D9225}"/>
              </a:ext>
            </a:extLst>
          </p:cNvPr>
          <p:cNvSpPr/>
          <p:nvPr/>
        </p:nvSpPr>
        <p:spPr>
          <a:xfrm>
            <a:off x="369277" y="365125"/>
            <a:ext cx="11579469"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TextBox 4">
            <a:extLst>
              <a:ext uri="{FF2B5EF4-FFF2-40B4-BE49-F238E27FC236}">
                <a16:creationId xmlns:a16="http://schemas.microsoft.com/office/drawing/2014/main" id="{59C07D4B-A191-F04A-E486-3194A33B8EAC}"/>
              </a:ext>
            </a:extLst>
          </p:cNvPr>
          <p:cNvSpPr txBox="1"/>
          <p:nvPr/>
        </p:nvSpPr>
        <p:spPr>
          <a:xfrm>
            <a:off x="539496" y="603504"/>
            <a:ext cx="10515600" cy="59436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0A4AEE90-81A8-D6CA-21E6-FA4469236ACC}"/>
              </a:ext>
            </a:extLst>
          </p:cNvPr>
          <p:cNvSpPr txBox="1"/>
          <p:nvPr/>
        </p:nvSpPr>
        <p:spPr>
          <a:xfrm>
            <a:off x="466344" y="603504"/>
            <a:ext cx="10131552"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   RESULTS</a:t>
            </a:r>
          </a:p>
        </p:txBody>
      </p:sp>
      <p:sp>
        <p:nvSpPr>
          <p:cNvPr id="3" name="TextBox 2">
            <a:extLst>
              <a:ext uri="{FF2B5EF4-FFF2-40B4-BE49-F238E27FC236}">
                <a16:creationId xmlns:a16="http://schemas.microsoft.com/office/drawing/2014/main" id="{D73FA25B-8B24-0EF1-09F6-779B764499C1}"/>
              </a:ext>
            </a:extLst>
          </p:cNvPr>
          <p:cNvSpPr txBox="1"/>
          <p:nvPr/>
        </p:nvSpPr>
        <p:spPr>
          <a:xfrm>
            <a:off x="466344" y="1207008"/>
            <a:ext cx="11356379" cy="3323987"/>
          </a:xfrm>
          <a:prstGeom prst="rect">
            <a:avLst/>
          </a:prstGeom>
          <a:noFill/>
        </p:spPr>
        <p:txBody>
          <a:bodyPr wrap="square" rtlCol="0">
            <a:spAutoFit/>
          </a:bodyPr>
          <a:lstStyle/>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19CC7686-AF4A-B648-8161-0A05FDA443A1}"/>
              </a:ext>
            </a:extLst>
          </p:cNvPr>
          <p:cNvGraphicFramePr>
            <a:graphicFrameLocks noGrp="1"/>
          </p:cNvGraphicFramePr>
          <p:nvPr>
            <p:extLst>
              <p:ext uri="{D42A27DB-BD31-4B8C-83A1-F6EECF244321}">
                <p14:modId xmlns:p14="http://schemas.microsoft.com/office/powerpoint/2010/main" val="966446961"/>
              </p:ext>
            </p:extLst>
          </p:nvPr>
        </p:nvGraphicFramePr>
        <p:xfrm>
          <a:off x="1289305" y="1277112"/>
          <a:ext cx="7178040" cy="2987040"/>
        </p:xfrm>
        <a:graphic>
          <a:graphicData uri="http://schemas.openxmlformats.org/drawingml/2006/table">
            <a:tbl>
              <a:tblPr/>
              <a:tblGrid>
                <a:gridCol w="1435608">
                  <a:extLst>
                    <a:ext uri="{9D8B030D-6E8A-4147-A177-3AD203B41FA5}">
                      <a16:colId xmlns:a16="http://schemas.microsoft.com/office/drawing/2014/main" val="2590055863"/>
                    </a:ext>
                  </a:extLst>
                </a:gridCol>
                <a:gridCol w="1435608">
                  <a:extLst>
                    <a:ext uri="{9D8B030D-6E8A-4147-A177-3AD203B41FA5}">
                      <a16:colId xmlns:a16="http://schemas.microsoft.com/office/drawing/2014/main" val="1951482302"/>
                    </a:ext>
                  </a:extLst>
                </a:gridCol>
                <a:gridCol w="1435608">
                  <a:extLst>
                    <a:ext uri="{9D8B030D-6E8A-4147-A177-3AD203B41FA5}">
                      <a16:colId xmlns:a16="http://schemas.microsoft.com/office/drawing/2014/main" val="329347734"/>
                    </a:ext>
                  </a:extLst>
                </a:gridCol>
                <a:gridCol w="1435608">
                  <a:extLst>
                    <a:ext uri="{9D8B030D-6E8A-4147-A177-3AD203B41FA5}">
                      <a16:colId xmlns:a16="http://schemas.microsoft.com/office/drawing/2014/main" val="1448743068"/>
                    </a:ext>
                  </a:extLst>
                </a:gridCol>
                <a:gridCol w="1435608">
                  <a:extLst>
                    <a:ext uri="{9D8B030D-6E8A-4147-A177-3AD203B41FA5}">
                      <a16:colId xmlns:a16="http://schemas.microsoft.com/office/drawing/2014/main" val="2244129119"/>
                    </a:ext>
                  </a:extLst>
                </a:gridCol>
              </a:tblGrid>
              <a:tr h="280654">
                <a:tc>
                  <a:txBody>
                    <a:bodyPr/>
                    <a:lstStyle/>
                    <a:p>
                      <a:pPr>
                        <a:buNone/>
                      </a:pPr>
                      <a:r>
                        <a:rPr lang="en-IN"/>
                        <a:t>STRIDE Category</a:t>
                      </a:r>
                    </a:p>
                  </a:txBody>
                  <a:tcPr anchor="ctr">
                    <a:lnL>
                      <a:noFill/>
                    </a:lnL>
                    <a:lnR>
                      <a:noFill/>
                    </a:lnR>
                    <a:lnT>
                      <a:noFill/>
                    </a:lnT>
                    <a:lnB>
                      <a:noFill/>
                    </a:lnB>
                    <a:noFill/>
                  </a:tcPr>
                </a:tc>
                <a:tc>
                  <a:txBody>
                    <a:bodyPr/>
                    <a:lstStyle/>
                    <a:p>
                      <a:pPr>
                        <a:buNone/>
                      </a:pPr>
                      <a:r>
                        <a:rPr lang="en-IN"/>
                        <a:t>Precision</a:t>
                      </a:r>
                    </a:p>
                  </a:txBody>
                  <a:tcPr anchor="ctr">
                    <a:lnL>
                      <a:noFill/>
                    </a:lnL>
                    <a:lnR>
                      <a:noFill/>
                    </a:lnR>
                    <a:lnT>
                      <a:noFill/>
                    </a:lnT>
                    <a:lnB>
                      <a:noFill/>
                    </a:lnB>
                    <a:noFill/>
                  </a:tcPr>
                </a:tc>
                <a:tc>
                  <a:txBody>
                    <a:bodyPr/>
                    <a:lstStyle/>
                    <a:p>
                      <a:pPr>
                        <a:buNone/>
                      </a:pPr>
                      <a:r>
                        <a:rPr lang="en-IN"/>
                        <a:t>Recall</a:t>
                      </a:r>
                    </a:p>
                  </a:txBody>
                  <a:tcPr anchor="ctr">
                    <a:lnL>
                      <a:noFill/>
                    </a:lnL>
                    <a:lnR>
                      <a:noFill/>
                    </a:lnR>
                    <a:lnT>
                      <a:noFill/>
                    </a:lnT>
                    <a:lnB>
                      <a:noFill/>
                    </a:lnB>
                    <a:noFill/>
                  </a:tcPr>
                </a:tc>
                <a:tc>
                  <a:txBody>
                    <a:bodyPr/>
                    <a:lstStyle/>
                    <a:p>
                      <a:pPr>
                        <a:buNone/>
                      </a:pPr>
                      <a:r>
                        <a:rPr lang="en-IN"/>
                        <a:t>F1-Score</a:t>
                      </a:r>
                    </a:p>
                  </a:txBody>
                  <a:tcPr anchor="ctr">
                    <a:lnL>
                      <a:noFill/>
                    </a:lnL>
                    <a:lnR>
                      <a:noFill/>
                    </a:lnR>
                    <a:lnT>
                      <a:noFill/>
                    </a:lnT>
                    <a:lnB>
                      <a:noFill/>
                    </a:lnB>
                    <a:noFill/>
                  </a:tcPr>
                </a:tc>
                <a:tc>
                  <a:txBody>
                    <a:bodyPr/>
                    <a:lstStyle/>
                    <a:p>
                      <a:pPr>
                        <a:buNone/>
                      </a:pPr>
                      <a:r>
                        <a:rPr lang="en-IN"/>
                        <a:t>Support (DFDs)</a:t>
                      </a:r>
                    </a:p>
                  </a:txBody>
                  <a:tcPr anchor="ctr">
                    <a:lnL>
                      <a:noFill/>
                    </a:lnL>
                    <a:lnR>
                      <a:noFill/>
                    </a:lnR>
                    <a:lnT>
                      <a:noFill/>
                    </a:lnT>
                    <a:lnB>
                      <a:noFill/>
                    </a:lnB>
                    <a:noFill/>
                  </a:tcPr>
                </a:tc>
                <a:extLst>
                  <a:ext uri="{0D108BD9-81ED-4DB2-BD59-A6C34878D82A}">
                    <a16:rowId xmlns:a16="http://schemas.microsoft.com/office/drawing/2014/main" val="1736476855"/>
                  </a:ext>
                </a:extLst>
              </a:tr>
              <a:tr h="280654">
                <a:tc>
                  <a:txBody>
                    <a:bodyPr/>
                    <a:lstStyle/>
                    <a:p>
                      <a:pPr>
                        <a:buNone/>
                      </a:pPr>
                      <a:r>
                        <a:rPr lang="en-IN"/>
                        <a:t>Spoofing</a:t>
                      </a:r>
                    </a:p>
                  </a:txBody>
                  <a:tcPr anchor="ctr">
                    <a:lnL>
                      <a:noFill/>
                    </a:lnL>
                    <a:lnR>
                      <a:noFill/>
                    </a:lnR>
                    <a:lnT>
                      <a:noFill/>
                    </a:lnT>
                    <a:lnB>
                      <a:noFill/>
                    </a:lnB>
                    <a:noFill/>
                  </a:tcPr>
                </a:tc>
                <a:tc>
                  <a:txBody>
                    <a:bodyPr/>
                    <a:lstStyle/>
                    <a:p>
                      <a:pPr>
                        <a:buNone/>
                      </a:pPr>
                      <a:r>
                        <a:rPr lang="en-IN" dirty="0"/>
                        <a:t>0.90</a:t>
                      </a:r>
                    </a:p>
                  </a:txBody>
                  <a:tcPr anchor="ctr">
                    <a:lnL>
                      <a:noFill/>
                    </a:lnL>
                    <a:lnR>
                      <a:noFill/>
                    </a:lnR>
                    <a:lnT>
                      <a:noFill/>
                    </a:lnT>
                    <a:lnB>
                      <a:noFill/>
                    </a:lnB>
                    <a:noFill/>
                  </a:tcPr>
                </a:tc>
                <a:tc>
                  <a:txBody>
                    <a:bodyPr/>
                    <a:lstStyle/>
                    <a:p>
                      <a:pPr>
                        <a:buNone/>
                      </a:pPr>
                      <a:r>
                        <a:rPr lang="en-IN" dirty="0"/>
                        <a:t>0.87</a:t>
                      </a:r>
                    </a:p>
                  </a:txBody>
                  <a:tcPr anchor="ctr">
                    <a:lnL>
                      <a:noFill/>
                    </a:lnL>
                    <a:lnR>
                      <a:noFill/>
                    </a:lnR>
                    <a:lnT>
                      <a:noFill/>
                    </a:lnT>
                    <a:lnB>
                      <a:noFill/>
                    </a:lnB>
                    <a:noFill/>
                  </a:tcPr>
                </a:tc>
                <a:tc>
                  <a:txBody>
                    <a:bodyPr/>
                    <a:lstStyle/>
                    <a:p>
                      <a:pPr>
                        <a:buNone/>
                      </a:pPr>
                      <a:r>
                        <a:rPr lang="en-IN" dirty="0"/>
                        <a:t>0.88</a:t>
                      </a:r>
                    </a:p>
                  </a:txBody>
                  <a:tcPr anchor="ctr">
                    <a:lnL>
                      <a:noFill/>
                    </a:lnL>
                    <a:lnR>
                      <a:noFill/>
                    </a:lnR>
                    <a:lnT>
                      <a:noFill/>
                    </a:lnT>
                    <a:lnB>
                      <a:noFill/>
                    </a:lnB>
                    <a:noFill/>
                  </a:tcPr>
                </a:tc>
                <a:tc>
                  <a:txBody>
                    <a:bodyPr/>
                    <a:lstStyle/>
                    <a:p>
                      <a:pPr>
                        <a:buNone/>
                      </a:pPr>
                      <a:r>
                        <a:rPr lang="en-IN" dirty="0"/>
                        <a:t>12</a:t>
                      </a:r>
                    </a:p>
                  </a:txBody>
                  <a:tcPr anchor="ctr">
                    <a:lnL>
                      <a:noFill/>
                    </a:lnL>
                    <a:lnR>
                      <a:noFill/>
                    </a:lnR>
                    <a:lnT>
                      <a:noFill/>
                    </a:lnT>
                    <a:lnB>
                      <a:noFill/>
                    </a:lnB>
                    <a:noFill/>
                  </a:tcPr>
                </a:tc>
                <a:extLst>
                  <a:ext uri="{0D108BD9-81ED-4DB2-BD59-A6C34878D82A}">
                    <a16:rowId xmlns:a16="http://schemas.microsoft.com/office/drawing/2014/main" val="441052790"/>
                  </a:ext>
                </a:extLst>
              </a:tr>
              <a:tr h="280654">
                <a:tc>
                  <a:txBody>
                    <a:bodyPr/>
                    <a:lstStyle/>
                    <a:p>
                      <a:pPr>
                        <a:buNone/>
                      </a:pPr>
                      <a:r>
                        <a:rPr lang="en-IN"/>
                        <a:t>Tampering</a:t>
                      </a:r>
                    </a:p>
                  </a:txBody>
                  <a:tcPr anchor="ctr">
                    <a:lnL>
                      <a:noFill/>
                    </a:lnL>
                    <a:lnR>
                      <a:noFill/>
                    </a:lnR>
                    <a:lnT>
                      <a:noFill/>
                    </a:lnT>
                    <a:lnB>
                      <a:noFill/>
                    </a:lnB>
                    <a:noFill/>
                  </a:tcPr>
                </a:tc>
                <a:tc>
                  <a:txBody>
                    <a:bodyPr/>
                    <a:lstStyle/>
                    <a:p>
                      <a:pPr>
                        <a:buNone/>
                      </a:pPr>
                      <a:r>
                        <a:rPr lang="en-IN" dirty="0"/>
                        <a:t>0.83</a:t>
                      </a:r>
                    </a:p>
                  </a:txBody>
                  <a:tcPr anchor="ctr">
                    <a:lnL>
                      <a:noFill/>
                    </a:lnL>
                    <a:lnR>
                      <a:noFill/>
                    </a:lnR>
                    <a:lnT>
                      <a:noFill/>
                    </a:lnT>
                    <a:lnB>
                      <a:noFill/>
                    </a:lnB>
                    <a:noFill/>
                  </a:tcPr>
                </a:tc>
                <a:tc>
                  <a:txBody>
                    <a:bodyPr/>
                    <a:lstStyle/>
                    <a:p>
                      <a:pPr>
                        <a:buNone/>
                      </a:pPr>
                      <a:r>
                        <a:rPr lang="en-IN" dirty="0"/>
                        <a:t>0.81</a:t>
                      </a:r>
                    </a:p>
                  </a:txBody>
                  <a:tcPr anchor="ctr">
                    <a:lnL>
                      <a:noFill/>
                    </a:lnL>
                    <a:lnR>
                      <a:noFill/>
                    </a:lnR>
                    <a:lnT>
                      <a:noFill/>
                    </a:lnT>
                    <a:lnB>
                      <a:noFill/>
                    </a:lnB>
                    <a:noFill/>
                  </a:tcPr>
                </a:tc>
                <a:tc>
                  <a:txBody>
                    <a:bodyPr/>
                    <a:lstStyle/>
                    <a:p>
                      <a:pPr>
                        <a:buNone/>
                      </a:pPr>
                      <a:r>
                        <a:rPr lang="en-IN" dirty="0"/>
                        <a:t>0.82</a:t>
                      </a:r>
                    </a:p>
                  </a:txBody>
                  <a:tcPr anchor="ctr">
                    <a:lnL>
                      <a:noFill/>
                    </a:lnL>
                    <a:lnR>
                      <a:noFill/>
                    </a:lnR>
                    <a:lnT>
                      <a:noFill/>
                    </a:lnT>
                    <a:lnB>
                      <a:noFill/>
                    </a:lnB>
                    <a:noFill/>
                  </a:tcPr>
                </a:tc>
                <a:tc>
                  <a:txBody>
                    <a:bodyPr/>
                    <a:lstStyle/>
                    <a:p>
                      <a:pPr>
                        <a:buNone/>
                      </a:pPr>
                      <a:r>
                        <a:rPr lang="en-IN"/>
                        <a:t>10</a:t>
                      </a:r>
                    </a:p>
                  </a:txBody>
                  <a:tcPr anchor="ctr">
                    <a:lnL>
                      <a:noFill/>
                    </a:lnL>
                    <a:lnR>
                      <a:noFill/>
                    </a:lnR>
                    <a:lnT>
                      <a:noFill/>
                    </a:lnT>
                    <a:lnB>
                      <a:noFill/>
                    </a:lnB>
                    <a:noFill/>
                  </a:tcPr>
                </a:tc>
                <a:extLst>
                  <a:ext uri="{0D108BD9-81ED-4DB2-BD59-A6C34878D82A}">
                    <a16:rowId xmlns:a16="http://schemas.microsoft.com/office/drawing/2014/main" val="791517266"/>
                  </a:ext>
                </a:extLst>
              </a:tr>
              <a:tr h="280654">
                <a:tc>
                  <a:txBody>
                    <a:bodyPr/>
                    <a:lstStyle/>
                    <a:p>
                      <a:pPr>
                        <a:buNone/>
                      </a:pPr>
                      <a:r>
                        <a:rPr lang="en-IN"/>
                        <a:t>Repudiation</a:t>
                      </a:r>
                    </a:p>
                  </a:txBody>
                  <a:tcPr anchor="ctr">
                    <a:lnL>
                      <a:noFill/>
                    </a:lnL>
                    <a:lnR>
                      <a:noFill/>
                    </a:lnR>
                    <a:lnT>
                      <a:noFill/>
                    </a:lnT>
                    <a:lnB>
                      <a:noFill/>
                    </a:lnB>
                    <a:noFill/>
                  </a:tcPr>
                </a:tc>
                <a:tc>
                  <a:txBody>
                    <a:bodyPr/>
                    <a:lstStyle/>
                    <a:p>
                      <a:pPr>
                        <a:buNone/>
                      </a:pPr>
                      <a:r>
                        <a:rPr lang="en-IN" dirty="0"/>
                        <a:t>0.77</a:t>
                      </a:r>
                    </a:p>
                  </a:txBody>
                  <a:tcPr anchor="ctr">
                    <a:lnL>
                      <a:noFill/>
                    </a:lnL>
                    <a:lnR>
                      <a:noFill/>
                    </a:lnR>
                    <a:lnT>
                      <a:noFill/>
                    </a:lnT>
                    <a:lnB>
                      <a:noFill/>
                    </a:lnB>
                    <a:noFill/>
                  </a:tcPr>
                </a:tc>
                <a:tc>
                  <a:txBody>
                    <a:bodyPr/>
                    <a:lstStyle/>
                    <a:p>
                      <a:pPr>
                        <a:buNone/>
                      </a:pPr>
                      <a:r>
                        <a:rPr lang="en-IN" dirty="0"/>
                        <a:t>0.74</a:t>
                      </a:r>
                    </a:p>
                  </a:txBody>
                  <a:tcPr anchor="ctr">
                    <a:lnL>
                      <a:noFill/>
                    </a:lnL>
                    <a:lnR>
                      <a:noFill/>
                    </a:lnR>
                    <a:lnT>
                      <a:noFill/>
                    </a:lnT>
                    <a:lnB>
                      <a:noFill/>
                    </a:lnB>
                    <a:noFill/>
                  </a:tcPr>
                </a:tc>
                <a:tc>
                  <a:txBody>
                    <a:bodyPr/>
                    <a:lstStyle/>
                    <a:p>
                      <a:pPr>
                        <a:buNone/>
                      </a:pPr>
                      <a:r>
                        <a:rPr lang="en-IN" dirty="0"/>
                        <a:t>0.75</a:t>
                      </a:r>
                    </a:p>
                  </a:txBody>
                  <a:tcPr anchor="ctr">
                    <a:lnL>
                      <a:noFill/>
                    </a:lnL>
                    <a:lnR>
                      <a:noFill/>
                    </a:lnR>
                    <a:lnT>
                      <a:noFill/>
                    </a:lnT>
                    <a:lnB>
                      <a:noFill/>
                    </a:lnB>
                    <a:noFill/>
                  </a:tcPr>
                </a:tc>
                <a:tc>
                  <a:txBody>
                    <a:bodyPr/>
                    <a:lstStyle/>
                    <a:p>
                      <a:pPr>
                        <a:buNone/>
                      </a:pPr>
                      <a:r>
                        <a:rPr lang="en-IN"/>
                        <a:t>8</a:t>
                      </a:r>
                    </a:p>
                  </a:txBody>
                  <a:tcPr anchor="ctr">
                    <a:lnL>
                      <a:noFill/>
                    </a:lnL>
                    <a:lnR>
                      <a:noFill/>
                    </a:lnR>
                    <a:lnT>
                      <a:noFill/>
                    </a:lnT>
                    <a:lnB>
                      <a:noFill/>
                    </a:lnB>
                    <a:noFill/>
                  </a:tcPr>
                </a:tc>
                <a:extLst>
                  <a:ext uri="{0D108BD9-81ED-4DB2-BD59-A6C34878D82A}">
                    <a16:rowId xmlns:a16="http://schemas.microsoft.com/office/drawing/2014/main" val="1044654483"/>
                  </a:ext>
                </a:extLst>
              </a:tr>
              <a:tr h="477111">
                <a:tc>
                  <a:txBody>
                    <a:bodyPr/>
                    <a:lstStyle/>
                    <a:p>
                      <a:pPr>
                        <a:buNone/>
                      </a:pPr>
                      <a:r>
                        <a:rPr lang="en-IN" dirty="0"/>
                        <a:t>Information Disclosure</a:t>
                      </a:r>
                    </a:p>
                  </a:txBody>
                  <a:tcPr anchor="ctr">
                    <a:lnL>
                      <a:noFill/>
                    </a:lnL>
                    <a:lnR>
                      <a:noFill/>
                    </a:lnR>
                    <a:lnT>
                      <a:noFill/>
                    </a:lnT>
                    <a:lnB>
                      <a:noFill/>
                    </a:lnB>
                    <a:noFill/>
                  </a:tcPr>
                </a:tc>
                <a:tc>
                  <a:txBody>
                    <a:bodyPr/>
                    <a:lstStyle/>
                    <a:p>
                      <a:pPr>
                        <a:buNone/>
                      </a:pPr>
                      <a:r>
                        <a:rPr lang="en-IN" dirty="0"/>
                        <a:t>0.92</a:t>
                      </a:r>
                    </a:p>
                  </a:txBody>
                  <a:tcPr anchor="ctr">
                    <a:lnL>
                      <a:noFill/>
                    </a:lnL>
                    <a:lnR>
                      <a:noFill/>
                    </a:lnR>
                    <a:lnT>
                      <a:noFill/>
                    </a:lnT>
                    <a:lnB>
                      <a:noFill/>
                    </a:lnB>
                    <a:noFill/>
                  </a:tcPr>
                </a:tc>
                <a:tc>
                  <a:txBody>
                    <a:bodyPr/>
                    <a:lstStyle/>
                    <a:p>
                      <a:pPr>
                        <a:buNone/>
                      </a:pPr>
                      <a:r>
                        <a:rPr lang="en-IN" dirty="0"/>
                        <a:t>0.90</a:t>
                      </a:r>
                    </a:p>
                  </a:txBody>
                  <a:tcPr anchor="ctr">
                    <a:lnL>
                      <a:noFill/>
                    </a:lnL>
                    <a:lnR>
                      <a:noFill/>
                    </a:lnR>
                    <a:lnT>
                      <a:noFill/>
                    </a:lnT>
                    <a:lnB>
                      <a:noFill/>
                    </a:lnB>
                    <a:noFill/>
                  </a:tcPr>
                </a:tc>
                <a:tc>
                  <a:txBody>
                    <a:bodyPr/>
                    <a:lstStyle/>
                    <a:p>
                      <a:pPr>
                        <a:buNone/>
                      </a:pPr>
                      <a:r>
                        <a:rPr lang="en-IN" dirty="0"/>
                        <a:t>0.91</a:t>
                      </a:r>
                    </a:p>
                  </a:txBody>
                  <a:tcPr anchor="ctr">
                    <a:lnL>
                      <a:noFill/>
                    </a:lnL>
                    <a:lnR>
                      <a:noFill/>
                    </a:lnR>
                    <a:lnT>
                      <a:noFill/>
                    </a:lnT>
                    <a:lnB>
                      <a:noFill/>
                    </a:lnB>
                    <a:noFill/>
                  </a:tcPr>
                </a:tc>
                <a:tc>
                  <a:txBody>
                    <a:bodyPr/>
                    <a:lstStyle/>
                    <a:p>
                      <a:pPr>
                        <a:buNone/>
                      </a:pPr>
                      <a:r>
                        <a:rPr lang="en-IN"/>
                        <a:t>13</a:t>
                      </a:r>
                    </a:p>
                  </a:txBody>
                  <a:tcPr anchor="ctr">
                    <a:lnL>
                      <a:noFill/>
                    </a:lnL>
                    <a:lnR>
                      <a:noFill/>
                    </a:lnR>
                    <a:lnT>
                      <a:noFill/>
                    </a:lnT>
                    <a:lnB>
                      <a:noFill/>
                    </a:lnB>
                    <a:noFill/>
                  </a:tcPr>
                </a:tc>
                <a:extLst>
                  <a:ext uri="{0D108BD9-81ED-4DB2-BD59-A6C34878D82A}">
                    <a16:rowId xmlns:a16="http://schemas.microsoft.com/office/drawing/2014/main" val="2452769208"/>
                  </a:ext>
                </a:extLst>
              </a:tr>
              <a:tr h="280654">
                <a:tc>
                  <a:txBody>
                    <a:bodyPr/>
                    <a:lstStyle/>
                    <a:p>
                      <a:pPr>
                        <a:buNone/>
                      </a:pPr>
                      <a:r>
                        <a:rPr lang="en-IN"/>
                        <a:t>Denial of Service</a:t>
                      </a:r>
                    </a:p>
                  </a:txBody>
                  <a:tcPr anchor="ctr">
                    <a:lnL>
                      <a:noFill/>
                    </a:lnL>
                    <a:lnR>
                      <a:noFill/>
                    </a:lnR>
                    <a:lnT>
                      <a:noFill/>
                    </a:lnT>
                    <a:lnB>
                      <a:noFill/>
                    </a:lnB>
                    <a:noFill/>
                  </a:tcPr>
                </a:tc>
                <a:tc>
                  <a:txBody>
                    <a:bodyPr/>
                    <a:lstStyle/>
                    <a:p>
                      <a:pPr>
                        <a:buNone/>
                      </a:pPr>
                      <a:r>
                        <a:rPr lang="en-IN" dirty="0"/>
                        <a:t>0.76</a:t>
                      </a:r>
                    </a:p>
                  </a:txBody>
                  <a:tcPr anchor="ctr">
                    <a:lnL>
                      <a:noFill/>
                    </a:lnL>
                    <a:lnR>
                      <a:noFill/>
                    </a:lnR>
                    <a:lnT>
                      <a:noFill/>
                    </a:lnT>
                    <a:lnB>
                      <a:noFill/>
                    </a:lnB>
                    <a:noFill/>
                  </a:tcPr>
                </a:tc>
                <a:tc>
                  <a:txBody>
                    <a:bodyPr/>
                    <a:lstStyle/>
                    <a:p>
                      <a:pPr>
                        <a:buNone/>
                      </a:pPr>
                      <a:r>
                        <a:rPr lang="en-IN" dirty="0"/>
                        <a:t>0.73</a:t>
                      </a:r>
                    </a:p>
                  </a:txBody>
                  <a:tcPr anchor="ctr">
                    <a:lnL>
                      <a:noFill/>
                    </a:lnL>
                    <a:lnR>
                      <a:noFill/>
                    </a:lnR>
                    <a:lnT>
                      <a:noFill/>
                    </a:lnT>
                    <a:lnB>
                      <a:noFill/>
                    </a:lnB>
                    <a:noFill/>
                  </a:tcPr>
                </a:tc>
                <a:tc>
                  <a:txBody>
                    <a:bodyPr/>
                    <a:lstStyle/>
                    <a:p>
                      <a:pPr>
                        <a:buNone/>
                      </a:pPr>
                      <a:r>
                        <a:rPr lang="en-IN" dirty="0"/>
                        <a:t>0.74</a:t>
                      </a:r>
                    </a:p>
                  </a:txBody>
                  <a:tcPr anchor="ctr">
                    <a:lnL>
                      <a:noFill/>
                    </a:lnL>
                    <a:lnR>
                      <a:noFill/>
                    </a:lnR>
                    <a:lnT>
                      <a:noFill/>
                    </a:lnT>
                    <a:lnB>
                      <a:noFill/>
                    </a:lnB>
                    <a:noFill/>
                  </a:tcPr>
                </a:tc>
                <a:tc>
                  <a:txBody>
                    <a:bodyPr/>
                    <a:lstStyle/>
                    <a:p>
                      <a:pPr>
                        <a:buNone/>
                      </a:pPr>
                      <a:r>
                        <a:rPr lang="en-IN"/>
                        <a:t>7</a:t>
                      </a:r>
                    </a:p>
                  </a:txBody>
                  <a:tcPr anchor="ctr">
                    <a:lnL>
                      <a:noFill/>
                    </a:lnL>
                    <a:lnR>
                      <a:noFill/>
                    </a:lnR>
                    <a:lnT>
                      <a:noFill/>
                    </a:lnT>
                    <a:lnB>
                      <a:noFill/>
                    </a:lnB>
                    <a:noFill/>
                  </a:tcPr>
                </a:tc>
                <a:extLst>
                  <a:ext uri="{0D108BD9-81ED-4DB2-BD59-A6C34878D82A}">
                    <a16:rowId xmlns:a16="http://schemas.microsoft.com/office/drawing/2014/main" val="1870441608"/>
                  </a:ext>
                </a:extLst>
              </a:tr>
              <a:tr h="280654">
                <a:tc>
                  <a:txBody>
                    <a:bodyPr/>
                    <a:lstStyle/>
                    <a:p>
                      <a:pPr>
                        <a:buNone/>
                      </a:pPr>
                      <a:r>
                        <a:rPr lang="en-IN"/>
                        <a:t>Elevation of Privilege</a:t>
                      </a:r>
                    </a:p>
                  </a:txBody>
                  <a:tcPr anchor="ctr">
                    <a:lnL>
                      <a:noFill/>
                    </a:lnL>
                    <a:lnR>
                      <a:noFill/>
                    </a:lnR>
                    <a:lnT>
                      <a:noFill/>
                    </a:lnT>
                    <a:lnB>
                      <a:noFill/>
                    </a:lnB>
                    <a:noFill/>
                  </a:tcPr>
                </a:tc>
                <a:tc>
                  <a:txBody>
                    <a:bodyPr/>
                    <a:lstStyle/>
                    <a:p>
                      <a:pPr>
                        <a:buNone/>
                      </a:pPr>
                      <a:r>
                        <a:rPr lang="en-IN" dirty="0"/>
                        <a:t>0.83</a:t>
                      </a:r>
                    </a:p>
                  </a:txBody>
                  <a:tcPr anchor="ctr">
                    <a:lnL>
                      <a:noFill/>
                    </a:lnL>
                    <a:lnR>
                      <a:noFill/>
                    </a:lnR>
                    <a:lnT>
                      <a:noFill/>
                    </a:lnT>
                    <a:lnB>
                      <a:noFill/>
                    </a:lnB>
                    <a:noFill/>
                  </a:tcPr>
                </a:tc>
                <a:tc>
                  <a:txBody>
                    <a:bodyPr/>
                    <a:lstStyle/>
                    <a:p>
                      <a:pPr>
                        <a:buNone/>
                      </a:pPr>
                      <a:r>
                        <a:rPr lang="en-IN" dirty="0"/>
                        <a:t>0.80</a:t>
                      </a:r>
                    </a:p>
                  </a:txBody>
                  <a:tcPr anchor="ctr">
                    <a:lnL>
                      <a:noFill/>
                    </a:lnL>
                    <a:lnR>
                      <a:noFill/>
                    </a:lnR>
                    <a:lnT>
                      <a:noFill/>
                    </a:lnT>
                    <a:lnB>
                      <a:noFill/>
                    </a:lnB>
                    <a:noFill/>
                  </a:tcPr>
                </a:tc>
                <a:tc>
                  <a:txBody>
                    <a:bodyPr/>
                    <a:lstStyle/>
                    <a:p>
                      <a:pPr>
                        <a:buNone/>
                      </a:pPr>
                      <a:r>
                        <a:rPr lang="en-IN" dirty="0"/>
                        <a:t>0.81</a:t>
                      </a:r>
                    </a:p>
                  </a:txBody>
                  <a:tcPr anchor="ctr">
                    <a:lnL>
                      <a:noFill/>
                    </a:lnL>
                    <a:lnR>
                      <a:noFill/>
                    </a:lnR>
                    <a:lnT>
                      <a:noFill/>
                    </a:lnT>
                    <a:lnB>
                      <a:noFill/>
                    </a:lnB>
                    <a:noFill/>
                  </a:tcPr>
                </a:tc>
                <a:tc>
                  <a:txBody>
                    <a:bodyPr/>
                    <a:lstStyle/>
                    <a:p>
                      <a:pPr>
                        <a:buNone/>
                      </a:pPr>
                      <a:r>
                        <a:rPr lang="en-IN" dirty="0"/>
                        <a:t>9</a:t>
                      </a:r>
                    </a:p>
                  </a:txBody>
                  <a:tcPr anchor="ctr">
                    <a:lnL>
                      <a:noFill/>
                    </a:lnL>
                    <a:lnR>
                      <a:noFill/>
                    </a:lnR>
                    <a:lnT>
                      <a:noFill/>
                    </a:lnT>
                    <a:lnB>
                      <a:noFill/>
                    </a:lnB>
                    <a:noFill/>
                  </a:tcPr>
                </a:tc>
                <a:extLst>
                  <a:ext uri="{0D108BD9-81ED-4DB2-BD59-A6C34878D82A}">
                    <a16:rowId xmlns:a16="http://schemas.microsoft.com/office/drawing/2014/main" val="660366870"/>
                  </a:ext>
                </a:extLst>
              </a:tr>
            </a:tbl>
          </a:graphicData>
        </a:graphic>
      </p:graphicFrame>
      <p:sp>
        <p:nvSpPr>
          <p:cNvPr id="9" name="TextBox 8">
            <a:extLst>
              <a:ext uri="{FF2B5EF4-FFF2-40B4-BE49-F238E27FC236}">
                <a16:creationId xmlns:a16="http://schemas.microsoft.com/office/drawing/2014/main" id="{5EBE2B72-B8C4-F2DD-1EDC-A77FF4D5906B}"/>
              </a:ext>
            </a:extLst>
          </p:cNvPr>
          <p:cNvSpPr txBox="1"/>
          <p:nvPr/>
        </p:nvSpPr>
        <p:spPr>
          <a:xfrm>
            <a:off x="578574" y="4231205"/>
            <a:ext cx="10019322" cy="2062103"/>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Key Observations paragraph:</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Information Disclosure and Spoofing achieved the highest F1-scores (0.92 and 0.90 respectively), reflecting the system's strength in identifying missing encryption and authentication controls — the most structurally visible properties in a DFD. Repudiation and Denial of Service scored lower (0.77 and 0.76) as these threats require contextual reasoning about system-level </a:t>
            </a:r>
            <a:r>
              <a:rPr lang="en-US" sz="1600" dirty="0" err="1">
                <a:latin typeface="Times New Roman" panose="02020603050405020304" pitchFamily="18" charset="0"/>
                <a:cs typeface="Times New Roman" panose="02020603050405020304" pitchFamily="18" charset="0"/>
              </a:rPr>
              <a:t>behaviour</a:t>
            </a:r>
            <a:r>
              <a:rPr lang="en-US" sz="1600" dirty="0">
                <a:latin typeface="Times New Roman" panose="02020603050405020304" pitchFamily="18" charset="0"/>
                <a:cs typeface="Times New Roman" panose="02020603050405020304" pitchFamily="18" charset="0"/>
              </a:rPr>
              <a:t> that is rarely explicit in early-stage DFDs. The degradation experiment confirms the core novel contribution: as DFD completeness drops from 100% to 12%, confidence levels shift entirely from Medium to Low without the system refusing to analyze — demonstrating calibrated uncertainty rather than failure under partial information.</a:t>
            </a:r>
          </a:p>
        </p:txBody>
      </p:sp>
      <p:sp>
        <p:nvSpPr>
          <p:cNvPr id="10" name="TextBox 9">
            <a:extLst>
              <a:ext uri="{FF2B5EF4-FFF2-40B4-BE49-F238E27FC236}">
                <a16:creationId xmlns:a16="http://schemas.microsoft.com/office/drawing/2014/main" id="{9DBE53FD-97A1-88CB-20A9-1401CEE98132}"/>
              </a:ext>
            </a:extLst>
          </p:cNvPr>
          <p:cNvSpPr txBox="1"/>
          <p:nvPr/>
        </p:nvSpPr>
        <p:spPr>
          <a:xfrm>
            <a:off x="8961120" y="1554480"/>
            <a:ext cx="2093976" cy="5232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Table 2 — Per-STRIDE-Category Performance</a:t>
            </a:r>
          </a:p>
        </p:txBody>
      </p:sp>
      <p:graphicFrame>
        <p:nvGraphicFramePr>
          <p:cNvPr id="11" name="Table 10">
            <a:extLst>
              <a:ext uri="{FF2B5EF4-FFF2-40B4-BE49-F238E27FC236}">
                <a16:creationId xmlns:a16="http://schemas.microsoft.com/office/drawing/2014/main" id="{AC1A5B5D-16A3-9B29-17E7-E7BEFE671D17}"/>
              </a:ext>
            </a:extLst>
          </p:cNvPr>
          <p:cNvGraphicFramePr>
            <a:graphicFrameLocks noGrp="1"/>
          </p:cNvGraphicFramePr>
          <p:nvPr>
            <p:extLst>
              <p:ext uri="{D42A27DB-BD31-4B8C-83A1-F6EECF244321}">
                <p14:modId xmlns:p14="http://schemas.microsoft.com/office/powerpoint/2010/main" val="2194161223"/>
              </p:ext>
            </p:extLst>
          </p:nvPr>
        </p:nvGraphicFramePr>
        <p:xfrm>
          <a:off x="1107440" y="1229360"/>
          <a:ext cx="7359905" cy="2997200"/>
        </p:xfrm>
        <a:graphic>
          <a:graphicData uri="http://schemas.openxmlformats.org/drawingml/2006/table">
            <a:tbl>
              <a:tblPr firstRow="1" bandRow="1">
                <a:tableStyleId>{B37A727E-7320-4C0F-8189-BD014B1F7B10}</a:tableStyleId>
              </a:tblPr>
              <a:tblGrid>
                <a:gridCol w="1538225">
                  <a:extLst>
                    <a:ext uri="{9D8B030D-6E8A-4147-A177-3AD203B41FA5}">
                      <a16:colId xmlns:a16="http://schemas.microsoft.com/office/drawing/2014/main" val="3528896181"/>
                    </a:ext>
                  </a:extLst>
                </a:gridCol>
                <a:gridCol w="1195833">
                  <a:extLst>
                    <a:ext uri="{9D8B030D-6E8A-4147-A177-3AD203B41FA5}">
                      <a16:colId xmlns:a16="http://schemas.microsoft.com/office/drawing/2014/main" val="925078798"/>
                    </a:ext>
                  </a:extLst>
                </a:gridCol>
                <a:gridCol w="1625600">
                  <a:extLst>
                    <a:ext uri="{9D8B030D-6E8A-4147-A177-3AD203B41FA5}">
                      <a16:colId xmlns:a16="http://schemas.microsoft.com/office/drawing/2014/main" val="3489561294"/>
                    </a:ext>
                  </a:extLst>
                </a:gridCol>
                <a:gridCol w="1445767">
                  <a:extLst>
                    <a:ext uri="{9D8B030D-6E8A-4147-A177-3AD203B41FA5}">
                      <a16:colId xmlns:a16="http://schemas.microsoft.com/office/drawing/2014/main" val="1839994179"/>
                    </a:ext>
                  </a:extLst>
                </a:gridCol>
                <a:gridCol w="1554480">
                  <a:extLst>
                    <a:ext uri="{9D8B030D-6E8A-4147-A177-3AD203B41FA5}">
                      <a16:colId xmlns:a16="http://schemas.microsoft.com/office/drawing/2014/main" val="3605067779"/>
                    </a:ext>
                  </a:extLst>
                </a:gridCol>
              </a:tblGrid>
              <a:tr h="57912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353076257"/>
                  </a:ext>
                </a:extLst>
              </a:tr>
              <a:tr h="32512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915079002"/>
                  </a:ext>
                </a:extLst>
              </a:tr>
              <a:tr h="2946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93837053"/>
                  </a:ext>
                </a:extLst>
              </a:tr>
              <a:tr h="31496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048120048"/>
                  </a:ext>
                </a:extLst>
              </a:tr>
              <a:tr h="45720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616250012"/>
                  </a:ext>
                </a:extLst>
              </a:tr>
              <a:tr h="52832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40713106"/>
                  </a:ext>
                </a:extLst>
              </a:tr>
              <a:tr h="48768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328345725"/>
                  </a:ext>
                </a:extLst>
              </a:tr>
            </a:tbl>
          </a:graphicData>
        </a:graphic>
      </p:graphicFrame>
    </p:spTree>
    <p:extLst>
      <p:ext uri="{BB962C8B-B14F-4D97-AF65-F5344CB8AC3E}">
        <p14:creationId xmlns:p14="http://schemas.microsoft.com/office/powerpoint/2010/main" val="2338536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ED9FC-674E-3DE3-F01F-A049E46BBDB5}"/>
            </a:ext>
          </a:extLst>
        </p:cNvPr>
        <p:cNvGrpSpPr/>
        <p:nvPr/>
      </p:nvGrpSpPr>
      <p:grpSpPr>
        <a:xfrm>
          <a:off x="0" y="0"/>
          <a:ext cx="0" cy="0"/>
          <a:chOff x="0" y="0"/>
          <a:chExt cx="0" cy="0"/>
        </a:xfrm>
      </p:grpSpPr>
      <p:sp>
        <p:nvSpPr>
          <p:cNvPr id="4" name="Google Shape;166;p12">
            <a:extLst>
              <a:ext uri="{FF2B5EF4-FFF2-40B4-BE49-F238E27FC236}">
                <a16:creationId xmlns:a16="http://schemas.microsoft.com/office/drawing/2014/main" id="{27066059-929D-8FE4-5AAB-2F77C9DBD9CC}"/>
              </a:ext>
            </a:extLst>
          </p:cNvPr>
          <p:cNvSpPr/>
          <p:nvPr/>
        </p:nvSpPr>
        <p:spPr>
          <a:xfrm>
            <a:off x="369277" y="365125"/>
            <a:ext cx="11579469"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TextBox 4">
            <a:extLst>
              <a:ext uri="{FF2B5EF4-FFF2-40B4-BE49-F238E27FC236}">
                <a16:creationId xmlns:a16="http://schemas.microsoft.com/office/drawing/2014/main" id="{79931F53-DA37-306F-5CA8-D863EF95BEC8}"/>
              </a:ext>
            </a:extLst>
          </p:cNvPr>
          <p:cNvSpPr txBox="1"/>
          <p:nvPr/>
        </p:nvSpPr>
        <p:spPr>
          <a:xfrm>
            <a:off x="539496" y="603504"/>
            <a:ext cx="10515600" cy="59436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8D0ED026-F170-2B93-B930-5ED6182B82EE}"/>
              </a:ext>
            </a:extLst>
          </p:cNvPr>
          <p:cNvSpPr txBox="1"/>
          <p:nvPr/>
        </p:nvSpPr>
        <p:spPr>
          <a:xfrm>
            <a:off x="466344" y="603504"/>
            <a:ext cx="10131552" cy="1569660"/>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   RESULTS</a:t>
            </a:r>
          </a:p>
          <a:p>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FCDBA14-7234-EDFC-17D1-CBE67AD12678}"/>
              </a:ext>
            </a:extLst>
          </p:cNvPr>
          <p:cNvSpPr txBox="1"/>
          <p:nvPr/>
        </p:nvSpPr>
        <p:spPr>
          <a:xfrm>
            <a:off x="466344" y="1197864"/>
            <a:ext cx="11356379" cy="3754874"/>
          </a:xfrm>
          <a:prstGeom prst="rect">
            <a:avLst/>
          </a:prstGeom>
          <a:noFill/>
        </p:spPr>
        <p:txBody>
          <a:bodyPr wrap="square" rtlCol="0">
            <a:spAutoFit/>
          </a:bodyPr>
          <a:lstStyle/>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566BEC58-7B72-ACCA-7B19-B4FC6467FD95}"/>
              </a:ext>
            </a:extLst>
          </p:cNvPr>
          <p:cNvGraphicFramePr>
            <a:graphicFrameLocks noGrp="1"/>
          </p:cNvGraphicFramePr>
          <p:nvPr>
            <p:extLst>
              <p:ext uri="{D42A27DB-BD31-4B8C-83A1-F6EECF244321}">
                <p14:modId xmlns:p14="http://schemas.microsoft.com/office/powerpoint/2010/main" val="1113218932"/>
              </p:ext>
            </p:extLst>
          </p:nvPr>
        </p:nvGraphicFramePr>
        <p:xfrm>
          <a:off x="667513" y="1188279"/>
          <a:ext cx="7488936" cy="4480560"/>
        </p:xfrm>
        <a:graphic>
          <a:graphicData uri="http://schemas.openxmlformats.org/drawingml/2006/table">
            <a:tbl>
              <a:tblPr/>
              <a:tblGrid>
                <a:gridCol w="1069848">
                  <a:extLst>
                    <a:ext uri="{9D8B030D-6E8A-4147-A177-3AD203B41FA5}">
                      <a16:colId xmlns:a16="http://schemas.microsoft.com/office/drawing/2014/main" val="2590055863"/>
                    </a:ext>
                  </a:extLst>
                </a:gridCol>
                <a:gridCol w="1069848">
                  <a:extLst>
                    <a:ext uri="{9D8B030D-6E8A-4147-A177-3AD203B41FA5}">
                      <a16:colId xmlns:a16="http://schemas.microsoft.com/office/drawing/2014/main" val="1522899008"/>
                    </a:ext>
                  </a:extLst>
                </a:gridCol>
                <a:gridCol w="1069848">
                  <a:extLst>
                    <a:ext uri="{9D8B030D-6E8A-4147-A177-3AD203B41FA5}">
                      <a16:colId xmlns:a16="http://schemas.microsoft.com/office/drawing/2014/main" val="648089641"/>
                    </a:ext>
                  </a:extLst>
                </a:gridCol>
                <a:gridCol w="1069848">
                  <a:extLst>
                    <a:ext uri="{9D8B030D-6E8A-4147-A177-3AD203B41FA5}">
                      <a16:colId xmlns:a16="http://schemas.microsoft.com/office/drawing/2014/main" val="2561168999"/>
                    </a:ext>
                  </a:extLst>
                </a:gridCol>
                <a:gridCol w="1069848">
                  <a:extLst>
                    <a:ext uri="{9D8B030D-6E8A-4147-A177-3AD203B41FA5}">
                      <a16:colId xmlns:a16="http://schemas.microsoft.com/office/drawing/2014/main" val="2325419810"/>
                    </a:ext>
                  </a:extLst>
                </a:gridCol>
                <a:gridCol w="1069848">
                  <a:extLst>
                    <a:ext uri="{9D8B030D-6E8A-4147-A177-3AD203B41FA5}">
                      <a16:colId xmlns:a16="http://schemas.microsoft.com/office/drawing/2014/main" val="1951482302"/>
                    </a:ext>
                  </a:extLst>
                </a:gridCol>
                <a:gridCol w="1069848">
                  <a:extLst>
                    <a:ext uri="{9D8B030D-6E8A-4147-A177-3AD203B41FA5}">
                      <a16:colId xmlns:a16="http://schemas.microsoft.com/office/drawing/2014/main" val="329347734"/>
                    </a:ext>
                  </a:extLst>
                </a:gridCol>
              </a:tblGrid>
              <a:tr h="507657">
                <a:tc>
                  <a:txBody>
                    <a:bodyPr/>
                    <a:lstStyle/>
                    <a:p>
                      <a:pPr>
                        <a:buNone/>
                      </a:pPr>
                      <a:r>
                        <a:rPr lang="en-IN" dirty="0"/>
                        <a:t>Scenario</a:t>
                      </a:r>
                    </a:p>
                  </a:txBody>
                  <a:tcPr anchor="ctr">
                    <a:lnL>
                      <a:noFill/>
                    </a:lnL>
                    <a:lnR>
                      <a:noFill/>
                    </a:lnR>
                    <a:lnT>
                      <a:noFill/>
                    </a:lnT>
                    <a:lnB>
                      <a:noFill/>
                    </a:lnB>
                    <a:noFill/>
                  </a:tcPr>
                </a:tc>
                <a:tc>
                  <a:txBody>
                    <a:bodyPr/>
                    <a:lstStyle/>
                    <a:p>
                      <a:pPr>
                        <a:buNone/>
                      </a:pPr>
                      <a:r>
                        <a:rPr lang="en-IN"/>
                        <a:t>Completeness</a:t>
                      </a:r>
                    </a:p>
                  </a:txBody>
                  <a:tcPr anchor="ctr">
                    <a:lnL>
                      <a:noFill/>
                    </a:lnL>
                    <a:lnR>
                      <a:noFill/>
                    </a:lnR>
                    <a:lnT>
                      <a:noFill/>
                    </a:lnT>
                    <a:lnB>
                      <a:noFill/>
                    </a:lnB>
                    <a:noFill/>
                  </a:tcPr>
                </a:tc>
                <a:tc>
                  <a:txBody>
                    <a:bodyPr/>
                    <a:lstStyle/>
                    <a:p>
                      <a:pPr>
                        <a:buNone/>
                      </a:pPr>
                      <a:r>
                        <a:rPr lang="en-IN"/>
                        <a:t>Partial Detected</a:t>
                      </a:r>
                    </a:p>
                  </a:txBody>
                  <a:tcPr anchor="ctr">
                    <a:lnL>
                      <a:noFill/>
                    </a:lnL>
                    <a:lnR>
                      <a:noFill/>
                    </a:lnR>
                    <a:lnT>
                      <a:noFill/>
                    </a:lnT>
                    <a:lnB>
                      <a:noFill/>
                    </a:lnB>
                    <a:noFill/>
                  </a:tcPr>
                </a:tc>
                <a:tc>
                  <a:txBody>
                    <a:bodyPr/>
                    <a:lstStyle/>
                    <a:p>
                      <a:pPr>
                        <a:buNone/>
                      </a:pPr>
                      <a:r>
                        <a:rPr lang="en-IN"/>
                        <a:t>Threats Found</a:t>
                      </a:r>
                    </a:p>
                  </a:txBody>
                  <a:tcPr anchor="ctr">
                    <a:lnL>
                      <a:noFill/>
                    </a:lnL>
                    <a:lnR>
                      <a:noFill/>
                    </a:lnR>
                    <a:lnT>
                      <a:noFill/>
                    </a:lnT>
                    <a:lnB>
                      <a:noFill/>
                    </a:lnB>
                    <a:noFill/>
                  </a:tcPr>
                </a:tc>
                <a:tc>
                  <a:txBody>
                    <a:bodyPr/>
                    <a:lstStyle/>
                    <a:p>
                      <a:pPr>
                        <a:buNone/>
                      </a:pPr>
                      <a:r>
                        <a:rPr lang="en-IN"/>
                        <a:t>High Confidence</a:t>
                      </a:r>
                    </a:p>
                  </a:txBody>
                  <a:tcPr anchor="ctr">
                    <a:lnL>
                      <a:noFill/>
                    </a:lnL>
                    <a:lnR>
                      <a:noFill/>
                    </a:lnR>
                    <a:lnT>
                      <a:noFill/>
                    </a:lnT>
                    <a:lnB>
                      <a:noFill/>
                    </a:lnB>
                    <a:noFill/>
                  </a:tcPr>
                </a:tc>
                <a:tc>
                  <a:txBody>
                    <a:bodyPr/>
                    <a:lstStyle/>
                    <a:p>
                      <a:pPr>
                        <a:buNone/>
                      </a:pPr>
                      <a:r>
                        <a:rPr lang="en-IN"/>
                        <a:t>Medium Confidence</a:t>
                      </a:r>
                    </a:p>
                  </a:txBody>
                  <a:tcPr anchor="ctr">
                    <a:lnL>
                      <a:noFill/>
                    </a:lnL>
                    <a:lnR>
                      <a:noFill/>
                    </a:lnR>
                    <a:lnT>
                      <a:noFill/>
                    </a:lnT>
                    <a:lnB>
                      <a:noFill/>
                    </a:lnB>
                    <a:noFill/>
                  </a:tcPr>
                </a:tc>
                <a:tc>
                  <a:txBody>
                    <a:bodyPr/>
                    <a:lstStyle/>
                    <a:p>
                      <a:pPr>
                        <a:buNone/>
                      </a:pPr>
                      <a:r>
                        <a:rPr lang="en-IN"/>
                        <a:t>Low Confidence</a:t>
                      </a:r>
                    </a:p>
                  </a:txBody>
                  <a:tcPr anchor="ctr">
                    <a:lnL>
                      <a:noFill/>
                    </a:lnL>
                    <a:lnR>
                      <a:noFill/>
                    </a:lnR>
                    <a:lnT>
                      <a:noFill/>
                    </a:lnT>
                    <a:lnB>
                      <a:noFill/>
                    </a:lnB>
                    <a:noFill/>
                  </a:tcPr>
                </a:tc>
                <a:extLst>
                  <a:ext uri="{0D108BD9-81ED-4DB2-BD59-A6C34878D82A}">
                    <a16:rowId xmlns:a16="http://schemas.microsoft.com/office/drawing/2014/main" val="1736476855"/>
                  </a:ext>
                </a:extLst>
              </a:tr>
              <a:tr h="359591">
                <a:tc>
                  <a:txBody>
                    <a:bodyPr/>
                    <a:lstStyle/>
                    <a:p>
                      <a:pPr>
                        <a:buNone/>
                      </a:pPr>
                      <a:r>
                        <a:rPr lang="en-IN"/>
                        <a:t>Full DFD (100%)</a:t>
                      </a:r>
                    </a:p>
                  </a:txBody>
                  <a:tcPr anchor="ctr">
                    <a:lnL>
                      <a:noFill/>
                    </a:lnL>
                    <a:lnR>
                      <a:noFill/>
                    </a:lnR>
                    <a:lnT>
                      <a:noFill/>
                    </a:lnT>
                    <a:lnB>
                      <a:noFill/>
                    </a:lnB>
                    <a:noFill/>
                  </a:tcPr>
                </a:tc>
                <a:tc>
                  <a:txBody>
                    <a:bodyPr/>
                    <a:lstStyle/>
                    <a:p>
                      <a:pPr>
                        <a:buNone/>
                      </a:pPr>
                      <a:r>
                        <a:rPr lang="en-IN" dirty="0"/>
                        <a:t>100%</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441052790"/>
                  </a:ext>
                </a:extLst>
              </a:tr>
              <a:tr h="507657">
                <a:tc>
                  <a:txBody>
                    <a:bodyPr/>
                    <a:lstStyle/>
                    <a:p>
                      <a:pPr>
                        <a:buNone/>
                      </a:pPr>
                      <a:r>
                        <a:rPr lang="en-IN" dirty="0"/>
                        <a:t>No Trust Boundaries</a:t>
                      </a:r>
                    </a:p>
                  </a:txBody>
                  <a:tcPr anchor="ctr">
                    <a:lnL>
                      <a:noFill/>
                    </a:lnL>
                    <a:lnR>
                      <a:noFill/>
                    </a:lnR>
                    <a:lnT>
                      <a:noFill/>
                    </a:lnT>
                    <a:lnB>
                      <a:noFill/>
                    </a:lnB>
                    <a:noFill/>
                  </a:tcPr>
                </a:tc>
                <a:tc>
                  <a:txBody>
                    <a:bodyPr/>
                    <a:lstStyle/>
                    <a:p>
                      <a:pPr>
                        <a:buNone/>
                      </a:pPr>
                      <a:r>
                        <a:rPr lang="en-IN" dirty="0"/>
                        <a:t>75%</a:t>
                      </a:r>
                    </a:p>
                  </a:txBody>
                  <a:tcPr anchor="ctr">
                    <a:lnL>
                      <a:noFill/>
                    </a:lnL>
                    <a:lnR>
                      <a:noFill/>
                    </a:lnR>
                    <a:lnT>
                      <a:noFill/>
                    </a:lnT>
                    <a:lnB>
                      <a:noFill/>
                    </a:lnB>
                    <a:noFill/>
                  </a:tcPr>
                </a:tc>
                <a:tc>
                  <a:txBody>
                    <a:bodyPr/>
                    <a:lstStyle/>
                    <a:p>
                      <a:pPr>
                        <a:buNone/>
                      </a:pPr>
                      <a:r>
                        <a:rPr lang="en-IN"/>
                        <a:t>Yes</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791517266"/>
                  </a:ext>
                </a:extLst>
              </a:tr>
              <a:tr h="359591">
                <a:tc>
                  <a:txBody>
                    <a:bodyPr/>
                    <a:lstStyle/>
                    <a:p>
                      <a:pPr>
                        <a:buNone/>
                      </a:pPr>
                      <a:r>
                        <a:rPr lang="en-IN"/>
                        <a:t>No Auth Information</a:t>
                      </a:r>
                    </a:p>
                  </a:txBody>
                  <a:tcPr anchor="ctr">
                    <a:lnL>
                      <a:noFill/>
                    </a:lnL>
                    <a:lnR>
                      <a:noFill/>
                    </a:lnR>
                    <a:lnT>
                      <a:noFill/>
                    </a:lnT>
                    <a:lnB>
                      <a:noFill/>
                    </a:lnB>
                    <a:noFill/>
                  </a:tcPr>
                </a:tc>
                <a:tc>
                  <a:txBody>
                    <a:bodyPr/>
                    <a:lstStyle/>
                    <a:p>
                      <a:pPr>
                        <a:buNone/>
                      </a:pPr>
                      <a:r>
                        <a:rPr lang="en-IN"/>
                        <a:t>75%</a:t>
                      </a:r>
                    </a:p>
                  </a:txBody>
                  <a:tcPr anchor="ctr">
                    <a:lnL>
                      <a:noFill/>
                    </a:lnL>
                    <a:lnR>
                      <a:noFill/>
                    </a:lnR>
                    <a:lnT>
                      <a:noFill/>
                    </a:lnT>
                    <a:lnB>
                      <a:noFill/>
                    </a:lnB>
                    <a:noFill/>
                  </a:tcPr>
                </a:tc>
                <a:tc>
                  <a:txBody>
                    <a:bodyPr/>
                    <a:lstStyle/>
                    <a:p>
                      <a:pPr>
                        <a:buNone/>
                      </a:pPr>
                      <a:r>
                        <a:rPr lang="en-IN"/>
                        <a:t>Yes</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1044654483"/>
                  </a:ext>
                </a:extLst>
              </a:tr>
              <a:tr h="507657">
                <a:tc>
                  <a:txBody>
                    <a:bodyPr/>
                    <a:lstStyle/>
                    <a:p>
                      <a:pPr>
                        <a:buNone/>
                      </a:pPr>
                      <a:r>
                        <a:rPr lang="en-IN"/>
                        <a:t>No Encryption Information</a:t>
                      </a:r>
                    </a:p>
                  </a:txBody>
                  <a:tcPr anchor="ctr">
                    <a:lnL>
                      <a:noFill/>
                    </a:lnL>
                    <a:lnR>
                      <a:noFill/>
                    </a:lnR>
                    <a:lnT>
                      <a:noFill/>
                    </a:lnT>
                    <a:lnB>
                      <a:noFill/>
                    </a:lnB>
                    <a:noFill/>
                  </a:tcPr>
                </a:tc>
                <a:tc>
                  <a:txBody>
                    <a:bodyPr/>
                    <a:lstStyle/>
                    <a:p>
                      <a:pPr>
                        <a:buNone/>
                      </a:pPr>
                      <a:r>
                        <a:rPr lang="en-IN"/>
                        <a:t>75%</a:t>
                      </a:r>
                    </a:p>
                  </a:txBody>
                  <a:tcPr anchor="ctr">
                    <a:lnL>
                      <a:noFill/>
                    </a:lnL>
                    <a:lnR>
                      <a:noFill/>
                    </a:lnR>
                    <a:lnT>
                      <a:noFill/>
                    </a:lnT>
                    <a:lnB>
                      <a:noFill/>
                    </a:lnB>
                    <a:noFill/>
                  </a:tcPr>
                </a:tc>
                <a:tc>
                  <a:txBody>
                    <a:bodyPr/>
                    <a:lstStyle/>
                    <a:p>
                      <a:pPr>
                        <a:buNone/>
                      </a:pPr>
                      <a:r>
                        <a:rPr lang="en-IN"/>
                        <a:t>Yes</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tc>
                  <a:txBody>
                    <a:bodyPr/>
                    <a:lstStyle/>
                    <a:p>
                      <a:pPr>
                        <a:buNone/>
                      </a:pPr>
                      <a:r>
                        <a:rPr lang="en-IN" dirty="0"/>
                        <a:t>0</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2452769208"/>
                  </a:ext>
                </a:extLst>
              </a:tr>
              <a:tr h="655724">
                <a:tc>
                  <a:txBody>
                    <a:bodyPr/>
                    <a:lstStyle/>
                    <a:p>
                      <a:pPr>
                        <a:buNone/>
                      </a:pPr>
                      <a:r>
                        <a:rPr lang="pt-BR"/>
                        <a:t>Minimal (No TB + Auth + Enc + Protocol)</a:t>
                      </a:r>
                    </a:p>
                  </a:txBody>
                  <a:tcPr anchor="ctr">
                    <a:lnL>
                      <a:noFill/>
                    </a:lnL>
                    <a:lnR>
                      <a:noFill/>
                    </a:lnR>
                    <a:lnT>
                      <a:noFill/>
                    </a:lnT>
                    <a:lnB>
                      <a:noFill/>
                    </a:lnB>
                    <a:noFill/>
                  </a:tcPr>
                </a:tc>
                <a:tc>
                  <a:txBody>
                    <a:bodyPr/>
                    <a:lstStyle/>
                    <a:p>
                      <a:pPr>
                        <a:buNone/>
                      </a:pPr>
                      <a:r>
                        <a:rPr lang="en-IN"/>
                        <a:t>12%</a:t>
                      </a:r>
                    </a:p>
                  </a:txBody>
                  <a:tcPr anchor="ctr">
                    <a:lnL>
                      <a:noFill/>
                    </a:lnL>
                    <a:lnR>
                      <a:noFill/>
                    </a:lnR>
                    <a:lnT>
                      <a:noFill/>
                    </a:lnT>
                    <a:lnB>
                      <a:noFill/>
                    </a:lnB>
                    <a:noFill/>
                  </a:tcPr>
                </a:tc>
                <a:tc>
                  <a:txBody>
                    <a:bodyPr/>
                    <a:lstStyle/>
                    <a:p>
                      <a:pPr>
                        <a:buNone/>
                      </a:pPr>
                      <a:r>
                        <a:rPr lang="en-IN"/>
                        <a:t>Yes</a:t>
                      </a:r>
                    </a:p>
                  </a:txBody>
                  <a:tcPr anchor="ctr">
                    <a:lnL>
                      <a:noFill/>
                    </a:lnL>
                    <a:lnR>
                      <a:noFill/>
                    </a:lnR>
                    <a:lnT>
                      <a:noFill/>
                    </a:lnT>
                    <a:lnB>
                      <a:noFill/>
                    </a:lnB>
                    <a:noFill/>
                  </a:tcPr>
                </a:tc>
                <a:tc>
                  <a:txBody>
                    <a:bodyPr/>
                    <a:lstStyle/>
                    <a:p>
                      <a:pPr>
                        <a:buNone/>
                      </a:pPr>
                      <a:r>
                        <a:rPr lang="en-IN" dirty="0"/>
                        <a:t>4</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dirty="0"/>
                        <a:t>4</a:t>
                      </a:r>
                    </a:p>
                  </a:txBody>
                  <a:tcPr anchor="ctr">
                    <a:lnL>
                      <a:noFill/>
                    </a:lnL>
                    <a:lnR>
                      <a:noFill/>
                    </a:lnR>
                    <a:lnT>
                      <a:noFill/>
                    </a:lnT>
                    <a:lnB>
                      <a:noFill/>
                    </a:lnB>
                    <a:noFill/>
                  </a:tcPr>
                </a:tc>
                <a:extLst>
                  <a:ext uri="{0D108BD9-81ED-4DB2-BD59-A6C34878D82A}">
                    <a16:rowId xmlns:a16="http://schemas.microsoft.com/office/drawing/2014/main" val="1870441608"/>
                  </a:ext>
                </a:extLst>
              </a:tr>
              <a:tr h="211524">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660366870"/>
                  </a:ext>
                </a:extLst>
              </a:tr>
            </a:tbl>
          </a:graphicData>
        </a:graphic>
      </p:graphicFrame>
      <p:graphicFrame>
        <p:nvGraphicFramePr>
          <p:cNvPr id="11" name="Table 10">
            <a:extLst>
              <a:ext uri="{FF2B5EF4-FFF2-40B4-BE49-F238E27FC236}">
                <a16:creationId xmlns:a16="http://schemas.microsoft.com/office/drawing/2014/main" id="{D9406128-9099-AAB1-7A49-4B6086AC6775}"/>
              </a:ext>
            </a:extLst>
          </p:cNvPr>
          <p:cNvGraphicFramePr>
            <a:graphicFrameLocks noGrp="1"/>
          </p:cNvGraphicFramePr>
          <p:nvPr>
            <p:extLst>
              <p:ext uri="{D42A27DB-BD31-4B8C-83A1-F6EECF244321}">
                <p14:modId xmlns:p14="http://schemas.microsoft.com/office/powerpoint/2010/main" val="1624950489"/>
              </p:ext>
            </p:extLst>
          </p:nvPr>
        </p:nvGraphicFramePr>
        <p:xfrm>
          <a:off x="667513" y="1234440"/>
          <a:ext cx="7370063" cy="4133087"/>
        </p:xfrm>
        <a:graphic>
          <a:graphicData uri="http://schemas.openxmlformats.org/drawingml/2006/table">
            <a:tbl>
              <a:tblPr firstRow="1" bandRow="1">
                <a:tableStyleId>{B37A727E-7320-4C0F-8189-BD014B1F7B10}</a:tableStyleId>
              </a:tblPr>
              <a:tblGrid>
                <a:gridCol w="1060703">
                  <a:extLst>
                    <a:ext uri="{9D8B030D-6E8A-4147-A177-3AD203B41FA5}">
                      <a16:colId xmlns:a16="http://schemas.microsoft.com/office/drawing/2014/main" val="2025073706"/>
                    </a:ext>
                  </a:extLst>
                </a:gridCol>
                <a:gridCol w="1069848">
                  <a:extLst>
                    <a:ext uri="{9D8B030D-6E8A-4147-A177-3AD203B41FA5}">
                      <a16:colId xmlns:a16="http://schemas.microsoft.com/office/drawing/2014/main" val="2683088880"/>
                    </a:ext>
                  </a:extLst>
                </a:gridCol>
                <a:gridCol w="960120">
                  <a:extLst>
                    <a:ext uri="{9D8B030D-6E8A-4147-A177-3AD203B41FA5}">
                      <a16:colId xmlns:a16="http://schemas.microsoft.com/office/drawing/2014/main" val="2238122708"/>
                    </a:ext>
                  </a:extLst>
                </a:gridCol>
                <a:gridCol w="932688">
                  <a:extLst>
                    <a:ext uri="{9D8B030D-6E8A-4147-A177-3AD203B41FA5}">
                      <a16:colId xmlns:a16="http://schemas.microsoft.com/office/drawing/2014/main" val="662087476"/>
                    </a:ext>
                  </a:extLst>
                </a:gridCol>
                <a:gridCol w="1234440">
                  <a:extLst>
                    <a:ext uri="{9D8B030D-6E8A-4147-A177-3AD203B41FA5}">
                      <a16:colId xmlns:a16="http://schemas.microsoft.com/office/drawing/2014/main" val="3574615596"/>
                    </a:ext>
                  </a:extLst>
                </a:gridCol>
                <a:gridCol w="1060704">
                  <a:extLst>
                    <a:ext uri="{9D8B030D-6E8A-4147-A177-3AD203B41FA5}">
                      <a16:colId xmlns:a16="http://schemas.microsoft.com/office/drawing/2014/main" val="3517967694"/>
                    </a:ext>
                  </a:extLst>
                </a:gridCol>
                <a:gridCol w="1051560">
                  <a:extLst>
                    <a:ext uri="{9D8B030D-6E8A-4147-A177-3AD203B41FA5}">
                      <a16:colId xmlns:a16="http://schemas.microsoft.com/office/drawing/2014/main" val="1310019096"/>
                    </a:ext>
                  </a:extLst>
                </a:gridCol>
              </a:tblGrid>
              <a:tr h="720946">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115051703"/>
                  </a:ext>
                </a:extLst>
              </a:tr>
              <a:tr h="540181">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192308482"/>
                  </a:ext>
                </a:extLst>
              </a:tr>
              <a:tr h="684228">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996931850"/>
                  </a:ext>
                </a:extLst>
              </a:tr>
              <a:tr h="522175">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490012362"/>
                  </a:ext>
                </a:extLst>
              </a:tr>
              <a:tr h="693232">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703523352"/>
                  </a:ext>
                </a:extLst>
              </a:tr>
              <a:tr h="972325">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337186297"/>
                  </a:ext>
                </a:extLst>
              </a:tr>
            </a:tbl>
          </a:graphicData>
        </a:graphic>
      </p:graphicFrame>
      <p:sp>
        <p:nvSpPr>
          <p:cNvPr id="12" name="TextBox 11">
            <a:extLst>
              <a:ext uri="{FF2B5EF4-FFF2-40B4-BE49-F238E27FC236}">
                <a16:creationId xmlns:a16="http://schemas.microsoft.com/office/drawing/2014/main" id="{E4E62C96-D245-9493-72BD-9CA90C965558}"/>
              </a:ext>
            </a:extLst>
          </p:cNvPr>
          <p:cNvSpPr txBox="1"/>
          <p:nvPr/>
        </p:nvSpPr>
        <p:spPr>
          <a:xfrm>
            <a:off x="8677656" y="1655064"/>
            <a:ext cx="2313432" cy="830997"/>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Table 3 -- Partial DFD Degradation Experiment</a:t>
            </a:r>
          </a:p>
        </p:txBody>
      </p:sp>
    </p:spTree>
    <p:extLst>
      <p:ext uri="{BB962C8B-B14F-4D97-AF65-F5344CB8AC3E}">
        <p14:creationId xmlns:p14="http://schemas.microsoft.com/office/powerpoint/2010/main" val="3615020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7E03-5896-29DC-F6CA-3A8721257277}"/>
            </a:ext>
          </a:extLst>
        </p:cNvPr>
        <p:cNvGrpSpPr/>
        <p:nvPr/>
      </p:nvGrpSpPr>
      <p:grpSpPr>
        <a:xfrm>
          <a:off x="0" y="0"/>
          <a:ext cx="0" cy="0"/>
          <a:chOff x="0" y="0"/>
          <a:chExt cx="0" cy="0"/>
        </a:xfrm>
      </p:grpSpPr>
      <p:sp>
        <p:nvSpPr>
          <p:cNvPr id="4" name="Google Shape;166;p12">
            <a:extLst>
              <a:ext uri="{FF2B5EF4-FFF2-40B4-BE49-F238E27FC236}">
                <a16:creationId xmlns:a16="http://schemas.microsoft.com/office/drawing/2014/main" id="{5FAE4F7D-A0EE-E06F-3A8E-64A1F0433554}"/>
              </a:ext>
            </a:extLst>
          </p:cNvPr>
          <p:cNvSpPr/>
          <p:nvPr/>
        </p:nvSpPr>
        <p:spPr>
          <a:xfrm>
            <a:off x="369277" y="365124"/>
            <a:ext cx="11579469" cy="6319139"/>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TextBox 4">
            <a:extLst>
              <a:ext uri="{FF2B5EF4-FFF2-40B4-BE49-F238E27FC236}">
                <a16:creationId xmlns:a16="http://schemas.microsoft.com/office/drawing/2014/main" id="{55F820EC-7C82-7FAC-9633-D0DDAA872EDD}"/>
              </a:ext>
            </a:extLst>
          </p:cNvPr>
          <p:cNvSpPr txBox="1"/>
          <p:nvPr/>
        </p:nvSpPr>
        <p:spPr>
          <a:xfrm>
            <a:off x="539496" y="603504"/>
            <a:ext cx="10515600" cy="59436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B3E9F7B7-22CC-6D68-A7B6-DDDB15308B19}"/>
              </a:ext>
            </a:extLst>
          </p:cNvPr>
          <p:cNvSpPr txBox="1"/>
          <p:nvPr/>
        </p:nvSpPr>
        <p:spPr>
          <a:xfrm>
            <a:off x="448056" y="603504"/>
            <a:ext cx="10981944"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   COMPARITIVE ANALYSIS</a:t>
            </a:r>
          </a:p>
        </p:txBody>
      </p:sp>
      <p:sp>
        <p:nvSpPr>
          <p:cNvPr id="3" name="TextBox 2">
            <a:extLst>
              <a:ext uri="{FF2B5EF4-FFF2-40B4-BE49-F238E27FC236}">
                <a16:creationId xmlns:a16="http://schemas.microsoft.com/office/drawing/2014/main" id="{B7CD9D14-38C7-C46D-C7A9-98E48E1E5C8C}"/>
              </a:ext>
            </a:extLst>
          </p:cNvPr>
          <p:cNvSpPr txBox="1"/>
          <p:nvPr/>
        </p:nvSpPr>
        <p:spPr>
          <a:xfrm>
            <a:off x="448056" y="1408176"/>
            <a:ext cx="11301984" cy="4946904"/>
          </a:xfrm>
          <a:prstGeom prst="rect">
            <a:avLst/>
          </a:prstGeom>
          <a:noFill/>
        </p:spPr>
        <p:txBody>
          <a:bodyPr wrap="square" rtlCol="0">
            <a:spAutoFit/>
          </a:bodyPr>
          <a:lstStyle/>
          <a:p>
            <a:endParaRPr lang="en-IN" dirty="0"/>
          </a:p>
        </p:txBody>
      </p:sp>
      <p:graphicFrame>
        <p:nvGraphicFramePr>
          <p:cNvPr id="12" name="Table 11">
            <a:extLst>
              <a:ext uri="{FF2B5EF4-FFF2-40B4-BE49-F238E27FC236}">
                <a16:creationId xmlns:a16="http://schemas.microsoft.com/office/drawing/2014/main" id="{74A88CE7-583A-D500-8E9D-19A53A826EBF}"/>
              </a:ext>
            </a:extLst>
          </p:cNvPr>
          <p:cNvGraphicFramePr>
            <a:graphicFrameLocks noGrp="1"/>
          </p:cNvGraphicFramePr>
          <p:nvPr>
            <p:extLst>
              <p:ext uri="{D42A27DB-BD31-4B8C-83A1-F6EECF244321}">
                <p14:modId xmlns:p14="http://schemas.microsoft.com/office/powerpoint/2010/main" val="2061241167"/>
              </p:ext>
            </p:extLst>
          </p:nvPr>
        </p:nvGraphicFramePr>
        <p:xfrm>
          <a:off x="822960" y="1270380"/>
          <a:ext cx="10607040" cy="5259305"/>
        </p:xfrm>
        <a:graphic>
          <a:graphicData uri="http://schemas.openxmlformats.org/drawingml/2006/table">
            <a:tbl>
              <a:tblPr/>
              <a:tblGrid>
                <a:gridCol w="3535680">
                  <a:extLst>
                    <a:ext uri="{9D8B030D-6E8A-4147-A177-3AD203B41FA5}">
                      <a16:colId xmlns:a16="http://schemas.microsoft.com/office/drawing/2014/main" val="1003008808"/>
                    </a:ext>
                  </a:extLst>
                </a:gridCol>
                <a:gridCol w="3535680">
                  <a:extLst>
                    <a:ext uri="{9D8B030D-6E8A-4147-A177-3AD203B41FA5}">
                      <a16:colId xmlns:a16="http://schemas.microsoft.com/office/drawing/2014/main" val="2683937858"/>
                    </a:ext>
                  </a:extLst>
                </a:gridCol>
                <a:gridCol w="3535680">
                  <a:extLst>
                    <a:ext uri="{9D8B030D-6E8A-4147-A177-3AD203B41FA5}">
                      <a16:colId xmlns:a16="http://schemas.microsoft.com/office/drawing/2014/main" val="578228510"/>
                    </a:ext>
                  </a:extLst>
                </a:gridCol>
              </a:tblGrid>
              <a:tr h="283378">
                <a:tc>
                  <a:txBody>
                    <a:bodyPr/>
                    <a:lstStyle/>
                    <a:p>
                      <a:pPr>
                        <a:buNone/>
                      </a:pPr>
                      <a:r>
                        <a:rPr lang="en-IN" sz="1050" b="1"/>
                        <a:t>Dimension</a:t>
                      </a:r>
                      <a:endParaRPr lang="en-IN" sz="1050"/>
                    </a:p>
                  </a:txBody>
                  <a:tcPr marL="43659" marR="43659" marT="21829" marB="21829" anchor="ctr">
                    <a:lnL>
                      <a:noFill/>
                    </a:lnL>
                    <a:lnR>
                      <a:noFill/>
                    </a:lnR>
                    <a:lnT>
                      <a:noFill/>
                    </a:lnT>
                    <a:lnB>
                      <a:noFill/>
                    </a:lnB>
                    <a:noFill/>
                  </a:tcPr>
                </a:tc>
                <a:tc>
                  <a:txBody>
                    <a:bodyPr/>
                    <a:lstStyle/>
                    <a:p>
                      <a:pPr>
                        <a:buNone/>
                      </a:pPr>
                      <a:r>
                        <a:rPr lang="en-IN" sz="1050" b="1"/>
                        <a:t>ThreatModeling-LLM (Base Paper, 2024)</a:t>
                      </a:r>
                      <a:endParaRPr lang="en-IN" sz="1050"/>
                    </a:p>
                  </a:txBody>
                  <a:tcPr marL="43659" marR="43659" marT="21829" marB="21829" anchor="ctr">
                    <a:lnL>
                      <a:noFill/>
                    </a:lnL>
                    <a:lnR>
                      <a:noFill/>
                    </a:lnR>
                    <a:lnT>
                      <a:noFill/>
                    </a:lnT>
                    <a:lnB>
                      <a:noFill/>
                    </a:lnB>
                    <a:noFill/>
                  </a:tcPr>
                </a:tc>
                <a:tc>
                  <a:txBody>
                    <a:bodyPr/>
                    <a:lstStyle/>
                    <a:p>
                      <a:pPr>
                        <a:buNone/>
                      </a:pPr>
                      <a:r>
                        <a:rPr lang="en-IN" sz="1050" b="1"/>
                        <a:t>SecureByDesign (Proposed)</a:t>
                      </a:r>
                      <a:endParaRPr lang="en-IN" sz="1050"/>
                    </a:p>
                  </a:txBody>
                  <a:tcPr marL="43659" marR="43659" marT="21829" marB="21829" anchor="ctr">
                    <a:lnL>
                      <a:noFill/>
                    </a:lnL>
                    <a:lnR>
                      <a:noFill/>
                    </a:lnR>
                    <a:lnT>
                      <a:noFill/>
                    </a:lnT>
                    <a:lnB>
                      <a:noFill/>
                    </a:lnB>
                    <a:noFill/>
                  </a:tcPr>
                </a:tc>
                <a:extLst>
                  <a:ext uri="{0D108BD9-81ED-4DB2-BD59-A6C34878D82A}">
                    <a16:rowId xmlns:a16="http://schemas.microsoft.com/office/drawing/2014/main" val="4097215905"/>
                  </a:ext>
                </a:extLst>
              </a:tr>
              <a:tr h="516748">
                <a:tc>
                  <a:txBody>
                    <a:bodyPr/>
                    <a:lstStyle/>
                    <a:p>
                      <a:pPr>
                        <a:buNone/>
                      </a:pPr>
                      <a:r>
                        <a:rPr lang="en-IN" sz="1050" b="1"/>
                        <a:t>Input Requirement</a:t>
                      </a:r>
                      <a:endParaRPr lang="en-IN" sz="1050"/>
                    </a:p>
                  </a:txBody>
                  <a:tcPr marL="43659" marR="43659" marT="21829" marB="21829" anchor="ctr">
                    <a:lnL>
                      <a:noFill/>
                    </a:lnL>
                    <a:lnR>
                      <a:noFill/>
                    </a:lnR>
                    <a:lnT>
                      <a:noFill/>
                    </a:lnT>
                    <a:lnB>
                      <a:noFill/>
                    </a:lnB>
                    <a:noFill/>
                  </a:tcPr>
                </a:tc>
                <a:tc>
                  <a:txBody>
                    <a:bodyPr/>
                    <a:lstStyle/>
                    <a:p>
                      <a:pPr>
                        <a:buNone/>
                      </a:pPr>
                      <a:r>
                        <a:rPr lang="en-US" sz="1050"/>
                        <a:t>Requires fully annotated DFDs with defined trust boundaries, data flows, and component types in Microsoft TMT XML format. Missing fields reduce reliability.</a:t>
                      </a:r>
                    </a:p>
                  </a:txBody>
                  <a:tcPr marL="43659" marR="43659" marT="21829" marB="21829" anchor="ctr">
                    <a:lnL>
                      <a:noFill/>
                    </a:lnL>
                    <a:lnR>
                      <a:noFill/>
                    </a:lnR>
                    <a:lnT>
                      <a:noFill/>
                    </a:lnT>
                    <a:lnB>
                      <a:noFill/>
                    </a:lnB>
                    <a:noFill/>
                  </a:tcPr>
                </a:tc>
                <a:tc>
                  <a:txBody>
                    <a:bodyPr/>
                    <a:lstStyle/>
                    <a:p>
                      <a:pPr>
                        <a:buNone/>
                      </a:pPr>
                      <a:r>
                        <a:rPr lang="en-US" sz="1050"/>
                        <a:t>Accepts incomplete DFDs. Automatically detects missing elements (trust boundaries, authentication, protocols) and adjusts reasoning while flagging gaps.</a:t>
                      </a:r>
                    </a:p>
                  </a:txBody>
                  <a:tcPr marL="43659" marR="43659" marT="21829" marB="21829" anchor="ctr">
                    <a:lnL>
                      <a:noFill/>
                    </a:lnL>
                    <a:lnR>
                      <a:noFill/>
                    </a:lnR>
                    <a:lnT>
                      <a:noFill/>
                    </a:lnT>
                    <a:lnB>
                      <a:noFill/>
                    </a:lnB>
                    <a:noFill/>
                  </a:tcPr>
                </a:tc>
                <a:extLst>
                  <a:ext uri="{0D108BD9-81ED-4DB2-BD59-A6C34878D82A}">
                    <a16:rowId xmlns:a16="http://schemas.microsoft.com/office/drawing/2014/main" val="2519166369"/>
                  </a:ext>
                </a:extLst>
              </a:tr>
              <a:tr h="516748">
                <a:tc>
                  <a:txBody>
                    <a:bodyPr/>
                    <a:lstStyle/>
                    <a:p>
                      <a:pPr>
                        <a:buNone/>
                      </a:pPr>
                      <a:r>
                        <a:rPr lang="en-IN" sz="1050" b="1"/>
                        <a:t>Domain Coverage</a:t>
                      </a:r>
                      <a:endParaRPr lang="en-IN" sz="1050"/>
                    </a:p>
                  </a:txBody>
                  <a:tcPr marL="43659" marR="43659" marT="21829" marB="21829" anchor="ctr">
                    <a:lnL>
                      <a:noFill/>
                    </a:lnL>
                    <a:lnR>
                      <a:noFill/>
                    </a:lnR>
                    <a:lnT>
                      <a:noFill/>
                    </a:lnT>
                    <a:lnB>
                      <a:noFill/>
                    </a:lnB>
                    <a:noFill/>
                  </a:tcPr>
                </a:tc>
                <a:tc>
                  <a:txBody>
                    <a:bodyPr/>
                    <a:lstStyle/>
                    <a:p>
                      <a:pPr>
                        <a:buNone/>
                      </a:pPr>
                      <a:r>
                        <a:rPr lang="en-US" sz="1050"/>
                        <a:t>Trained and evaluated only on banking system DFDs from Microsoft Threat Modeling Tool datasets.</a:t>
                      </a:r>
                    </a:p>
                  </a:txBody>
                  <a:tcPr marL="43659" marR="43659" marT="21829" marB="21829" anchor="ctr">
                    <a:lnL>
                      <a:noFill/>
                    </a:lnL>
                    <a:lnR>
                      <a:noFill/>
                    </a:lnR>
                    <a:lnT>
                      <a:noFill/>
                    </a:lnT>
                    <a:lnB>
                      <a:noFill/>
                    </a:lnB>
                    <a:noFill/>
                  </a:tcPr>
                </a:tc>
                <a:tc>
                  <a:txBody>
                    <a:bodyPr/>
                    <a:lstStyle/>
                    <a:p>
                      <a:pPr>
                        <a:buNone/>
                      </a:pPr>
                      <a:r>
                        <a:rPr lang="en-US" sz="1050"/>
                        <a:t>Evaluated on </a:t>
                      </a:r>
                      <a:r>
                        <a:rPr lang="en-US" sz="1050" b="1"/>
                        <a:t>microSecEnD</a:t>
                      </a:r>
                      <a:r>
                        <a:rPr lang="en-US" sz="1050"/>
                        <a:t> dataset with 1000+ real-world microservice architecture DFDs across multiple system domains.</a:t>
                      </a:r>
                    </a:p>
                  </a:txBody>
                  <a:tcPr marL="43659" marR="43659" marT="21829" marB="21829" anchor="ctr">
                    <a:lnL>
                      <a:noFill/>
                    </a:lnL>
                    <a:lnR>
                      <a:noFill/>
                    </a:lnR>
                    <a:lnT>
                      <a:noFill/>
                    </a:lnT>
                    <a:lnB>
                      <a:noFill/>
                    </a:lnB>
                    <a:noFill/>
                  </a:tcPr>
                </a:tc>
                <a:extLst>
                  <a:ext uri="{0D108BD9-81ED-4DB2-BD59-A6C34878D82A}">
                    <a16:rowId xmlns:a16="http://schemas.microsoft.com/office/drawing/2014/main" val="1063106635"/>
                  </a:ext>
                </a:extLst>
              </a:tr>
              <a:tr h="516748">
                <a:tc>
                  <a:txBody>
                    <a:bodyPr/>
                    <a:lstStyle/>
                    <a:p>
                      <a:pPr>
                        <a:buNone/>
                      </a:pPr>
                      <a:r>
                        <a:rPr lang="en-IN" sz="1050" b="1"/>
                        <a:t>LLM Approach</a:t>
                      </a:r>
                      <a:endParaRPr lang="en-IN" sz="1050"/>
                    </a:p>
                  </a:txBody>
                  <a:tcPr marL="43659" marR="43659" marT="21829" marB="21829" anchor="ctr">
                    <a:lnL>
                      <a:noFill/>
                    </a:lnL>
                    <a:lnR>
                      <a:noFill/>
                    </a:lnR>
                    <a:lnT>
                      <a:noFill/>
                    </a:lnT>
                    <a:lnB>
                      <a:noFill/>
                    </a:lnB>
                    <a:noFill/>
                  </a:tcPr>
                </a:tc>
                <a:tc>
                  <a:txBody>
                    <a:bodyPr/>
                    <a:lstStyle/>
                    <a:p>
                      <a:pPr>
                        <a:buNone/>
                      </a:pPr>
                      <a:r>
                        <a:rPr lang="en-US" sz="1050"/>
                        <a:t>Uses supervised fine-tuning on labelled DFD-to-STRIDE pairs. Requires training data, GPU resources, and retraining for domain changes.</a:t>
                      </a:r>
                    </a:p>
                  </a:txBody>
                  <a:tcPr marL="43659" marR="43659" marT="21829" marB="21829" anchor="ctr">
                    <a:lnL>
                      <a:noFill/>
                    </a:lnL>
                    <a:lnR>
                      <a:noFill/>
                    </a:lnR>
                    <a:lnT>
                      <a:noFill/>
                    </a:lnT>
                    <a:lnB>
                      <a:noFill/>
                    </a:lnB>
                    <a:noFill/>
                  </a:tcPr>
                </a:tc>
                <a:tc>
                  <a:txBody>
                    <a:bodyPr/>
                    <a:lstStyle/>
                    <a:p>
                      <a:pPr>
                        <a:buNone/>
                      </a:pPr>
                      <a:r>
                        <a:rPr lang="en-US" sz="1050"/>
                        <a:t>Uses </a:t>
                      </a:r>
                      <a:r>
                        <a:rPr lang="en-US" sz="1050" b="1"/>
                        <a:t>few-shot prompting</a:t>
                      </a:r>
                      <a:r>
                        <a:rPr lang="en-US" sz="1050"/>
                        <a:t> (complete + partial DFD examples). No training pipeline required; runs directly on Groq with llama-3.3-70B.</a:t>
                      </a:r>
                    </a:p>
                  </a:txBody>
                  <a:tcPr marL="43659" marR="43659" marT="21829" marB="21829" anchor="ctr">
                    <a:lnL>
                      <a:noFill/>
                    </a:lnL>
                    <a:lnR>
                      <a:noFill/>
                    </a:lnR>
                    <a:lnT>
                      <a:noFill/>
                    </a:lnT>
                    <a:lnB>
                      <a:noFill/>
                    </a:lnB>
                    <a:noFill/>
                  </a:tcPr>
                </a:tc>
                <a:extLst>
                  <a:ext uri="{0D108BD9-81ED-4DB2-BD59-A6C34878D82A}">
                    <a16:rowId xmlns:a16="http://schemas.microsoft.com/office/drawing/2014/main" val="2717593318"/>
                  </a:ext>
                </a:extLst>
              </a:tr>
              <a:tr h="516748">
                <a:tc>
                  <a:txBody>
                    <a:bodyPr/>
                    <a:lstStyle/>
                    <a:p>
                      <a:pPr>
                        <a:buNone/>
                      </a:pPr>
                      <a:r>
                        <a:rPr lang="en-IN" sz="1050" b="1" dirty="0"/>
                        <a:t>Output</a:t>
                      </a:r>
                      <a:endParaRPr lang="en-IN" sz="1050" dirty="0"/>
                    </a:p>
                  </a:txBody>
                  <a:tcPr marL="43659" marR="43659" marT="21829" marB="21829" anchor="ctr">
                    <a:lnL>
                      <a:noFill/>
                    </a:lnL>
                    <a:lnR>
                      <a:noFill/>
                    </a:lnR>
                    <a:lnT>
                      <a:noFill/>
                    </a:lnT>
                    <a:lnB>
                      <a:noFill/>
                    </a:lnB>
                    <a:noFill/>
                  </a:tcPr>
                </a:tc>
                <a:tc>
                  <a:txBody>
                    <a:bodyPr/>
                    <a:lstStyle/>
                    <a:p>
                      <a:pPr>
                        <a:buNone/>
                      </a:pPr>
                      <a:r>
                        <a:rPr lang="en-US" sz="1050"/>
                        <a:t>Produces STRIDE labels mapped to components without explanation or remediation guidance.</a:t>
                      </a:r>
                    </a:p>
                  </a:txBody>
                  <a:tcPr marL="43659" marR="43659" marT="21829" marB="21829" anchor="ctr">
                    <a:lnL>
                      <a:noFill/>
                    </a:lnL>
                    <a:lnR>
                      <a:noFill/>
                    </a:lnR>
                    <a:lnT>
                      <a:noFill/>
                    </a:lnT>
                    <a:lnB>
                      <a:noFill/>
                    </a:lnB>
                    <a:noFill/>
                  </a:tcPr>
                </a:tc>
                <a:tc>
                  <a:txBody>
                    <a:bodyPr/>
                    <a:lstStyle/>
                    <a:p>
                      <a:pPr>
                        <a:buNone/>
                      </a:pPr>
                      <a:r>
                        <a:rPr lang="en-US" sz="1050"/>
                        <a:t>Generates structured JSON reports with threat ID, STRIDE category, description, recommended controls, confidence level, and explanation.</a:t>
                      </a:r>
                    </a:p>
                  </a:txBody>
                  <a:tcPr marL="43659" marR="43659" marT="21829" marB="21829" anchor="ctr">
                    <a:lnL>
                      <a:noFill/>
                    </a:lnL>
                    <a:lnR>
                      <a:noFill/>
                    </a:lnR>
                    <a:lnT>
                      <a:noFill/>
                    </a:lnT>
                    <a:lnB>
                      <a:noFill/>
                    </a:lnB>
                    <a:noFill/>
                  </a:tcPr>
                </a:tc>
                <a:extLst>
                  <a:ext uri="{0D108BD9-81ED-4DB2-BD59-A6C34878D82A}">
                    <a16:rowId xmlns:a16="http://schemas.microsoft.com/office/drawing/2014/main" val="339532879"/>
                  </a:ext>
                </a:extLst>
              </a:tr>
              <a:tr h="400062">
                <a:tc>
                  <a:txBody>
                    <a:bodyPr/>
                    <a:lstStyle/>
                    <a:p>
                      <a:pPr>
                        <a:buNone/>
                      </a:pPr>
                      <a:r>
                        <a:rPr lang="en-IN" sz="1050" b="1"/>
                        <a:t>Explainability</a:t>
                      </a:r>
                      <a:endParaRPr lang="en-IN" sz="1050"/>
                    </a:p>
                  </a:txBody>
                  <a:tcPr marL="43659" marR="43659" marT="21829" marB="21829" anchor="ctr">
                    <a:lnL>
                      <a:noFill/>
                    </a:lnL>
                    <a:lnR>
                      <a:noFill/>
                    </a:lnR>
                    <a:lnT>
                      <a:noFill/>
                    </a:lnT>
                    <a:lnB>
                      <a:noFill/>
                    </a:lnB>
                    <a:noFill/>
                  </a:tcPr>
                </a:tc>
                <a:tc>
                  <a:txBody>
                    <a:bodyPr/>
                    <a:lstStyle/>
                    <a:p>
                      <a:pPr>
                        <a:buNone/>
                      </a:pPr>
                      <a:r>
                        <a:rPr lang="en-US" sz="1050" dirty="0"/>
                        <a:t>No reasoning provided; architects only see threat labels.</a:t>
                      </a:r>
                    </a:p>
                  </a:txBody>
                  <a:tcPr marL="43659" marR="43659" marT="21829" marB="21829" anchor="ctr">
                    <a:lnL>
                      <a:noFill/>
                    </a:lnL>
                    <a:lnR>
                      <a:noFill/>
                    </a:lnR>
                    <a:lnT>
                      <a:noFill/>
                    </a:lnT>
                    <a:lnB>
                      <a:noFill/>
                    </a:lnB>
                    <a:noFill/>
                  </a:tcPr>
                </a:tc>
                <a:tc>
                  <a:txBody>
                    <a:bodyPr/>
                    <a:lstStyle/>
                    <a:p>
                      <a:pPr>
                        <a:buNone/>
                      </a:pPr>
                      <a:r>
                        <a:rPr lang="en-US" sz="1050"/>
                        <a:t>Each threat includes natural-language explanations referencing the relevant DFD component and missing security property.</a:t>
                      </a:r>
                    </a:p>
                  </a:txBody>
                  <a:tcPr marL="43659" marR="43659" marT="21829" marB="21829" anchor="ctr">
                    <a:lnL>
                      <a:noFill/>
                    </a:lnL>
                    <a:lnR>
                      <a:noFill/>
                    </a:lnR>
                    <a:lnT>
                      <a:noFill/>
                    </a:lnT>
                    <a:lnB>
                      <a:noFill/>
                    </a:lnB>
                    <a:noFill/>
                  </a:tcPr>
                </a:tc>
                <a:extLst>
                  <a:ext uri="{0D108BD9-81ED-4DB2-BD59-A6C34878D82A}">
                    <a16:rowId xmlns:a16="http://schemas.microsoft.com/office/drawing/2014/main" val="1476188648"/>
                  </a:ext>
                </a:extLst>
              </a:tr>
              <a:tr h="633433">
                <a:tc>
                  <a:txBody>
                    <a:bodyPr/>
                    <a:lstStyle/>
                    <a:p>
                      <a:pPr>
                        <a:buNone/>
                      </a:pPr>
                      <a:r>
                        <a:rPr lang="en-IN" sz="1050" b="1"/>
                        <a:t>Partial DFD Handling</a:t>
                      </a:r>
                      <a:endParaRPr lang="en-IN" sz="1050"/>
                    </a:p>
                  </a:txBody>
                  <a:tcPr marL="43659" marR="43659" marT="21829" marB="21829" anchor="ctr">
                    <a:lnL>
                      <a:noFill/>
                    </a:lnL>
                    <a:lnR>
                      <a:noFill/>
                    </a:lnR>
                    <a:lnT>
                      <a:noFill/>
                    </a:lnT>
                    <a:lnB>
                      <a:noFill/>
                    </a:lnB>
                    <a:noFill/>
                  </a:tcPr>
                </a:tc>
                <a:tc>
                  <a:txBody>
                    <a:bodyPr/>
                    <a:lstStyle/>
                    <a:p>
                      <a:pPr>
                        <a:buNone/>
                      </a:pPr>
                      <a:r>
                        <a:rPr lang="en-US" sz="1050"/>
                        <a:t>Assumes all DFD fields are present; incomplete inputs lead to skipped components or unreliable outputs.</a:t>
                      </a:r>
                    </a:p>
                  </a:txBody>
                  <a:tcPr marL="43659" marR="43659" marT="21829" marB="21829" anchor="ctr">
                    <a:lnL>
                      <a:noFill/>
                    </a:lnL>
                    <a:lnR>
                      <a:noFill/>
                    </a:lnR>
                    <a:lnT>
                      <a:noFill/>
                    </a:lnT>
                    <a:lnB>
                      <a:noFill/>
                    </a:lnB>
                    <a:noFill/>
                  </a:tcPr>
                </a:tc>
                <a:tc>
                  <a:txBody>
                    <a:bodyPr/>
                    <a:lstStyle/>
                    <a:p>
                      <a:pPr>
                        <a:buNone/>
                      </a:pPr>
                      <a:r>
                        <a:rPr lang="en-US" sz="1050"/>
                        <a:t>Detects partial inputs using a </a:t>
                      </a:r>
                      <a:r>
                        <a:rPr lang="en-US" sz="1050" b="1"/>
                        <a:t>completeness score (0–1)</a:t>
                      </a:r>
                      <a:r>
                        <a:rPr lang="en-US" sz="1050"/>
                        <a:t> based on trust boundaries, authentication, encryption, and protocol coverage; adjusts confidence accordingly.</a:t>
                      </a:r>
                    </a:p>
                  </a:txBody>
                  <a:tcPr marL="43659" marR="43659" marT="21829" marB="21829" anchor="ctr">
                    <a:lnL>
                      <a:noFill/>
                    </a:lnL>
                    <a:lnR>
                      <a:noFill/>
                    </a:lnR>
                    <a:lnT>
                      <a:noFill/>
                    </a:lnT>
                    <a:lnB>
                      <a:noFill/>
                    </a:lnB>
                    <a:noFill/>
                  </a:tcPr>
                </a:tc>
                <a:extLst>
                  <a:ext uri="{0D108BD9-81ED-4DB2-BD59-A6C34878D82A}">
                    <a16:rowId xmlns:a16="http://schemas.microsoft.com/office/drawing/2014/main" val="4241005862"/>
                  </a:ext>
                </a:extLst>
              </a:tr>
              <a:tr h="400062">
                <a:tc>
                  <a:txBody>
                    <a:bodyPr/>
                    <a:lstStyle/>
                    <a:p>
                      <a:pPr>
                        <a:buNone/>
                      </a:pPr>
                      <a:r>
                        <a:rPr lang="en-IN" sz="1050" b="1"/>
                        <a:t>Evaluation Dataset</a:t>
                      </a:r>
                      <a:endParaRPr lang="en-IN" sz="1050"/>
                    </a:p>
                  </a:txBody>
                  <a:tcPr marL="43659" marR="43659" marT="21829" marB="21829" anchor="ctr">
                    <a:lnL>
                      <a:noFill/>
                    </a:lnL>
                    <a:lnR>
                      <a:noFill/>
                    </a:lnR>
                    <a:lnT>
                      <a:noFill/>
                    </a:lnT>
                    <a:lnB>
                      <a:noFill/>
                    </a:lnB>
                    <a:noFill/>
                  </a:tcPr>
                </a:tc>
                <a:tc>
                  <a:txBody>
                    <a:bodyPr/>
                    <a:lstStyle/>
                    <a:p>
                      <a:pPr>
                        <a:buNone/>
                      </a:pPr>
                      <a:r>
                        <a:rPr lang="en-US" sz="1050"/>
                        <a:t>Tested on 100+ proprietary banking DFDs in Microsoft TMT XML format; dataset not publicly released.</a:t>
                      </a:r>
                    </a:p>
                  </a:txBody>
                  <a:tcPr marL="43659" marR="43659" marT="21829" marB="21829" anchor="ctr">
                    <a:lnL>
                      <a:noFill/>
                    </a:lnL>
                    <a:lnR>
                      <a:noFill/>
                    </a:lnR>
                    <a:lnT>
                      <a:noFill/>
                    </a:lnT>
                    <a:lnB>
                      <a:noFill/>
                    </a:lnB>
                    <a:noFill/>
                  </a:tcPr>
                </a:tc>
                <a:tc>
                  <a:txBody>
                    <a:bodyPr/>
                    <a:lstStyle/>
                    <a:p>
                      <a:pPr>
                        <a:buNone/>
                      </a:pPr>
                      <a:r>
                        <a:rPr lang="en-US" sz="1050"/>
                        <a:t>Evaluated on the </a:t>
                      </a:r>
                      <a:r>
                        <a:rPr lang="en-US" sz="1050" b="1"/>
                        <a:t>microSecEnD</a:t>
                      </a:r>
                      <a:r>
                        <a:rPr lang="en-US" sz="1050"/>
                        <a:t> public dataset of 1000+ microservice architecture DFDs.</a:t>
                      </a:r>
                    </a:p>
                  </a:txBody>
                  <a:tcPr marL="43659" marR="43659" marT="21829" marB="21829" anchor="ctr">
                    <a:lnL>
                      <a:noFill/>
                    </a:lnL>
                    <a:lnR>
                      <a:noFill/>
                    </a:lnR>
                    <a:lnT>
                      <a:noFill/>
                    </a:lnT>
                    <a:lnB>
                      <a:noFill/>
                    </a:lnB>
                    <a:noFill/>
                  </a:tcPr>
                </a:tc>
                <a:extLst>
                  <a:ext uri="{0D108BD9-81ED-4DB2-BD59-A6C34878D82A}">
                    <a16:rowId xmlns:a16="http://schemas.microsoft.com/office/drawing/2014/main" val="1802361516"/>
                  </a:ext>
                </a:extLst>
              </a:tr>
              <a:tr h="400062">
                <a:tc>
                  <a:txBody>
                    <a:bodyPr/>
                    <a:lstStyle/>
                    <a:p>
                      <a:pPr>
                        <a:buNone/>
                      </a:pPr>
                      <a:r>
                        <a:rPr lang="en-IN" sz="1050" b="1"/>
                        <a:t>Deployment Requirement</a:t>
                      </a:r>
                      <a:endParaRPr lang="en-IN" sz="1050"/>
                    </a:p>
                  </a:txBody>
                  <a:tcPr marL="43659" marR="43659" marT="21829" marB="21829" anchor="ctr">
                    <a:lnL>
                      <a:noFill/>
                    </a:lnL>
                    <a:lnR>
                      <a:noFill/>
                    </a:lnR>
                    <a:lnT>
                      <a:noFill/>
                    </a:lnT>
                    <a:lnB>
                      <a:noFill/>
                    </a:lnB>
                    <a:noFill/>
                  </a:tcPr>
                </a:tc>
                <a:tc>
                  <a:txBody>
                    <a:bodyPr/>
                    <a:lstStyle/>
                    <a:p>
                      <a:pPr>
                        <a:buNone/>
                      </a:pPr>
                      <a:r>
                        <a:rPr lang="en-US" sz="1050"/>
                        <a:t>Requires a fine-tuned model checkpoint and infrastructure capable of serving the trained model.</a:t>
                      </a:r>
                    </a:p>
                  </a:txBody>
                  <a:tcPr marL="43659" marR="43659" marT="21829" marB="21829" anchor="ctr">
                    <a:lnL>
                      <a:noFill/>
                    </a:lnL>
                    <a:lnR>
                      <a:noFill/>
                    </a:lnR>
                    <a:lnT>
                      <a:noFill/>
                    </a:lnT>
                    <a:lnB>
                      <a:noFill/>
                    </a:lnB>
                    <a:noFill/>
                  </a:tcPr>
                </a:tc>
                <a:tc>
                  <a:txBody>
                    <a:bodyPr/>
                    <a:lstStyle/>
                    <a:p>
                      <a:pPr>
                        <a:buNone/>
                      </a:pPr>
                      <a:r>
                        <a:rPr lang="en-US" sz="1050"/>
                        <a:t>Deploys quickly using a Groq API key and Python environment; no GPU or training required.</a:t>
                      </a:r>
                    </a:p>
                  </a:txBody>
                  <a:tcPr marL="43659" marR="43659" marT="21829" marB="21829" anchor="ctr">
                    <a:lnL>
                      <a:noFill/>
                    </a:lnL>
                    <a:lnR>
                      <a:noFill/>
                    </a:lnR>
                    <a:lnT>
                      <a:noFill/>
                    </a:lnT>
                    <a:lnB>
                      <a:noFill/>
                    </a:lnB>
                    <a:noFill/>
                  </a:tcPr>
                </a:tc>
                <a:extLst>
                  <a:ext uri="{0D108BD9-81ED-4DB2-BD59-A6C34878D82A}">
                    <a16:rowId xmlns:a16="http://schemas.microsoft.com/office/drawing/2014/main" val="2646233967"/>
                  </a:ext>
                </a:extLst>
              </a:tr>
              <a:tr h="400062">
                <a:tc>
                  <a:txBody>
                    <a:bodyPr/>
                    <a:lstStyle/>
                    <a:p>
                      <a:pPr>
                        <a:buNone/>
                      </a:pPr>
                      <a:r>
                        <a:rPr lang="en-IN" sz="1050" b="1"/>
                        <a:t>Novel Contribution</a:t>
                      </a:r>
                      <a:endParaRPr lang="en-IN" sz="1050"/>
                    </a:p>
                  </a:txBody>
                  <a:tcPr marL="43659" marR="43659" marT="21829" marB="21829" anchor="ctr">
                    <a:lnL>
                      <a:noFill/>
                    </a:lnL>
                    <a:lnR>
                      <a:noFill/>
                    </a:lnR>
                    <a:lnT>
                      <a:noFill/>
                    </a:lnT>
                    <a:lnB>
                      <a:noFill/>
                    </a:lnB>
                    <a:noFill/>
                  </a:tcPr>
                </a:tc>
                <a:tc>
                  <a:txBody>
                    <a:bodyPr/>
                    <a:lstStyle/>
                    <a:p>
                      <a:pPr>
                        <a:buNone/>
                      </a:pPr>
                      <a:r>
                        <a:rPr lang="en-US" sz="1050"/>
                        <a:t>Shows that fine-tuning LLMs for DFD-to-STRIDE threat detection can achieve high accuracy (~92%).</a:t>
                      </a:r>
                    </a:p>
                  </a:txBody>
                  <a:tcPr marL="43659" marR="43659" marT="21829" marB="21829" anchor="ctr">
                    <a:lnL>
                      <a:noFill/>
                    </a:lnL>
                    <a:lnR>
                      <a:noFill/>
                    </a:lnR>
                    <a:lnT>
                      <a:noFill/>
                    </a:lnT>
                    <a:lnB>
                      <a:noFill/>
                    </a:lnB>
                    <a:noFill/>
                  </a:tcPr>
                </a:tc>
                <a:tc>
                  <a:txBody>
                    <a:bodyPr/>
                    <a:lstStyle/>
                    <a:p>
                      <a:pPr>
                        <a:buNone/>
                      </a:pPr>
                      <a:r>
                        <a:rPr lang="en-US" sz="1050"/>
                        <a:t>Extends threat modeling to </a:t>
                      </a:r>
                      <a:r>
                        <a:rPr lang="en-US" sz="1050" b="1"/>
                        <a:t>incomplete design artifacts</a:t>
                      </a:r>
                      <a:r>
                        <a:rPr lang="en-US" sz="1050"/>
                        <a:t> with uncertainty-aware reasoning and confidence calibration.</a:t>
                      </a:r>
                    </a:p>
                  </a:txBody>
                  <a:tcPr marL="43659" marR="43659" marT="21829" marB="21829" anchor="ctr">
                    <a:lnL>
                      <a:noFill/>
                    </a:lnL>
                    <a:lnR>
                      <a:noFill/>
                    </a:lnR>
                    <a:lnT>
                      <a:noFill/>
                    </a:lnT>
                    <a:lnB>
                      <a:noFill/>
                    </a:lnB>
                    <a:noFill/>
                  </a:tcPr>
                </a:tc>
                <a:extLst>
                  <a:ext uri="{0D108BD9-81ED-4DB2-BD59-A6C34878D82A}">
                    <a16:rowId xmlns:a16="http://schemas.microsoft.com/office/drawing/2014/main" val="3436205411"/>
                  </a:ext>
                </a:extLst>
              </a:tr>
              <a:tr h="400062">
                <a:tc>
                  <a:txBody>
                    <a:bodyPr/>
                    <a:lstStyle/>
                    <a:p>
                      <a:pPr>
                        <a:buNone/>
                      </a:pPr>
                      <a:r>
                        <a:rPr lang="en-IN" sz="1050" b="1"/>
                        <a:t>Practical Usability</a:t>
                      </a:r>
                      <a:endParaRPr lang="en-IN" sz="1050"/>
                    </a:p>
                  </a:txBody>
                  <a:tcPr marL="43659" marR="43659" marT="21829" marB="21829" anchor="ctr">
                    <a:lnL>
                      <a:noFill/>
                    </a:lnL>
                    <a:lnR>
                      <a:noFill/>
                    </a:lnR>
                    <a:lnT>
                      <a:noFill/>
                    </a:lnT>
                    <a:lnB>
                      <a:noFill/>
                    </a:lnB>
                    <a:noFill/>
                  </a:tcPr>
                </a:tc>
                <a:tc>
                  <a:txBody>
                    <a:bodyPr/>
                    <a:lstStyle/>
                    <a:p>
                      <a:pPr>
                        <a:buNone/>
                      </a:pPr>
                      <a:r>
                        <a:rPr lang="en-US" sz="1050"/>
                        <a:t>Best suited for finalized architecture diagrams prepared in a strict format.</a:t>
                      </a:r>
                    </a:p>
                  </a:txBody>
                  <a:tcPr marL="43659" marR="43659" marT="21829" marB="21829" anchor="ctr">
                    <a:lnL>
                      <a:noFill/>
                    </a:lnL>
                    <a:lnR>
                      <a:noFill/>
                    </a:lnR>
                    <a:lnT>
                      <a:noFill/>
                    </a:lnT>
                    <a:lnB>
                      <a:noFill/>
                    </a:lnB>
                    <a:noFill/>
                  </a:tcPr>
                </a:tc>
                <a:tc>
                  <a:txBody>
                    <a:bodyPr/>
                    <a:lstStyle/>
                    <a:p>
                      <a:pPr>
                        <a:buNone/>
                      </a:pPr>
                      <a:r>
                        <a:rPr lang="en-US" sz="1050" dirty="0"/>
                        <a:t>Usable even in early design stages with partial diagrams, supporting </a:t>
                      </a:r>
                      <a:r>
                        <a:rPr lang="en-US" sz="1050" b="1" dirty="0"/>
                        <a:t>shift-left security analysis</a:t>
                      </a:r>
                      <a:r>
                        <a:rPr lang="en-US" sz="1050" dirty="0"/>
                        <a:t>.</a:t>
                      </a:r>
                    </a:p>
                  </a:txBody>
                  <a:tcPr marL="43659" marR="43659" marT="21829" marB="21829" anchor="ctr">
                    <a:lnL>
                      <a:noFill/>
                    </a:lnL>
                    <a:lnR>
                      <a:noFill/>
                    </a:lnR>
                    <a:lnT>
                      <a:noFill/>
                    </a:lnT>
                    <a:lnB>
                      <a:noFill/>
                    </a:lnB>
                    <a:noFill/>
                  </a:tcPr>
                </a:tc>
                <a:extLst>
                  <a:ext uri="{0D108BD9-81ED-4DB2-BD59-A6C34878D82A}">
                    <a16:rowId xmlns:a16="http://schemas.microsoft.com/office/drawing/2014/main" val="2749112107"/>
                  </a:ext>
                </a:extLst>
              </a:tr>
            </a:tbl>
          </a:graphicData>
        </a:graphic>
      </p:graphicFrame>
      <p:graphicFrame>
        <p:nvGraphicFramePr>
          <p:cNvPr id="13" name="Table 12">
            <a:extLst>
              <a:ext uri="{FF2B5EF4-FFF2-40B4-BE49-F238E27FC236}">
                <a16:creationId xmlns:a16="http://schemas.microsoft.com/office/drawing/2014/main" id="{88D8DC34-194E-93C2-E57C-9082FD71713E}"/>
              </a:ext>
            </a:extLst>
          </p:cNvPr>
          <p:cNvGraphicFramePr>
            <a:graphicFrameLocks noGrp="1"/>
          </p:cNvGraphicFramePr>
          <p:nvPr>
            <p:extLst>
              <p:ext uri="{D42A27DB-BD31-4B8C-83A1-F6EECF244321}">
                <p14:modId xmlns:p14="http://schemas.microsoft.com/office/powerpoint/2010/main" val="3560066804"/>
              </p:ext>
            </p:extLst>
          </p:nvPr>
        </p:nvGraphicFramePr>
        <p:xfrm>
          <a:off x="539495" y="1233567"/>
          <a:ext cx="11283228" cy="5337087"/>
        </p:xfrm>
        <a:graphic>
          <a:graphicData uri="http://schemas.openxmlformats.org/drawingml/2006/table">
            <a:tbl>
              <a:tblPr firstRow="1" bandRow="1">
                <a:tableStyleId>{B37A727E-7320-4C0F-8189-BD014B1F7B10}</a:tableStyleId>
              </a:tblPr>
              <a:tblGrid>
                <a:gridCol w="3761076">
                  <a:extLst>
                    <a:ext uri="{9D8B030D-6E8A-4147-A177-3AD203B41FA5}">
                      <a16:colId xmlns:a16="http://schemas.microsoft.com/office/drawing/2014/main" val="3677432171"/>
                    </a:ext>
                  </a:extLst>
                </a:gridCol>
                <a:gridCol w="3572413">
                  <a:extLst>
                    <a:ext uri="{9D8B030D-6E8A-4147-A177-3AD203B41FA5}">
                      <a16:colId xmlns:a16="http://schemas.microsoft.com/office/drawing/2014/main" val="839722287"/>
                    </a:ext>
                  </a:extLst>
                </a:gridCol>
                <a:gridCol w="3949739">
                  <a:extLst>
                    <a:ext uri="{9D8B030D-6E8A-4147-A177-3AD203B41FA5}">
                      <a16:colId xmlns:a16="http://schemas.microsoft.com/office/drawing/2014/main" val="3744947421"/>
                    </a:ext>
                  </a:extLst>
                </a:gridCol>
              </a:tblGrid>
              <a:tr h="302625">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664810540"/>
                  </a:ext>
                </a:extLst>
              </a:tr>
              <a:tr h="537321">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09399778"/>
                  </a:ext>
                </a:extLst>
              </a:tr>
              <a:tr h="53949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285866497"/>
                  </a:ext>
                </a:extLst>
              </a:tr>
              <a:tr h="530352">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162245946"/>
                  </a:ext>
                </a:extLst>
              </a:tr>
              <a:tr h="50292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161680146"/>
                  </a:ext>
                </a:extLst>
              </a:tr>
              <a:tr h="512064">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282313109"/>
                  </a:ext>
                </a:extLst>
              </a:tr>
              <a:tr h="59436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017197250"/>
                  </a:ext>
                </a:extLst>
              </a:tr>
              <a:tr h="478119">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035250847"/>
                  </a:ext>
                </a:extLst>
              </a:tr>
              <a:tr h="381417">
                <a:tc>
                  <a:txBody>
                    <a:bodyPr/>
                    <a:lstStyle/>
                    <a:p>
                      <a:endParaRPr lang="en-IN"/>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1645929742"/>
                  </a:ext>
                </a:extLst>
              </a:tr>
              <a:tr h="478119">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560442982"/>
                  </a:ext>
                </a:extLst>
              </a:tr>
              <a:tr h="478119">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74008402"/>
                  </a:ext>
                </a:extLst>
              </a:tr>
            </a:tbl>
          </a:graphicData>
        </a:graphic>
      </p:graphicFrame>
    </p:spTree>
    <p:extLst>
      <p:ext uri="{BB962C8B-B14F-4D97-AF65-F5344CB8AC3E}">
        <p14:creationId xmlns:p14="http://schemas.microsoft.com/office/powerpoint/2010/main" val="2593370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00EAC-E6AA-D1CD-B137-5E82CEE73F33}"/>
            </a:ext>
          </a:extLst>
        </p:cNvPr>
        <p:cNvGrpSpPr/>
        <p:nvPr/>
      </p:nvGrpSpPr>
      <p:grpSpPr>
        <a:xfrm>
          <a:off x="0" y="0"/>
          <a:ext cx="0" cy="0"/>
          <a:chOff x="0" y="0"/>
          <a:chExt cx="0" cy="0"/>
        </a:xfrm>
      </p:grpSpPr>
      <p:sp>
        <p:nvSpPr>
          <p:cNvPr id="4" name="Google Shape;166;p12">
            <a:extLst>
              <a:ext uri="{FF2B5EF4-FFF2-40B4-BE49-F238E27FC236}">
                <a16:creationId xmlns:a16="http://schemas.microsoft.com/office/drawing/2014/main" id="{4F16794A-F938-6DFE-32D8-5CB2ECD82DFB}"/>
              </a:ext>
            </a:extLst>
          </p:cNvPr>
          <p:cNvSpPr/>
          <p:nvPr/>
        </p:nvSpPr>
        <p:spPr>
          <a:xfrm>
            <a:off x="369277" y="365125"/>
            <a:ext cx="11579469"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TextBox 4">
            <a:extLst>
              <a:ext uri="{FF2B5EF4-FFF2-40B4-BE49-F238E27FC236}">
                <a16:creationId xmlns:a16="http://schemas.microsoft.com/office/drawing/2014/main" id="{249C15DC-DECC-B61F-7CD8-BE317F6225B7}"/>
              </a:ext>
            </a:extLst>
          </p:cNvPr>
          <p:cNvSpPr txBox="1"/>
          <p:nvPr/>
        </p:nvSpPr>
        <p:spPr>
          <a:xfrm>
            <a:off x="539496" y="603504"/>
            <a:ext cx="10515600" cy="59436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A036FEB9-4AC8-89F7-B20D-3917B1B2836E}"/>
              </a:ext>
            </a:extLst>
          </p:cNvPr>
          <p:cNvSpPr txBox="1"/>
          <p:nvPr/>
        </p:nvSpPr>
        <p:spPr>
          <a:xfrm>
            <a:off x="466344" y="603504"/>
            <a:ext cx="10131552"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   LIMITATIONS</a:t>
            </a:r>
          </a:p>
        </p:txBody>
      </p:sp>
      <p:sp>
        <p:nvSpPr>
          <p:cNvPr id="3" name="TextBox 2">
            <a:extLst>
              <a:ext uri="{FF2B5EF4-FFF2-40B4-BE49-F238E27FC236}">
                <a16:creationId xmlns:a16="http://schemas.microsoft.com/office/drawing/2014/main" id="{7D6D0516-77CA-D76A-5E36-06C9DBD75E1A}"/>
              </a:ext>
            </a:extLst>
          </p:cNvPr>
          <p:cNvSpPr txBox="1"/>
          <p:nvPr/>
        </p:nvSpPr>
        <p:spPr>
          <a:xfrm>
            <a:off x="466344" y="1197864"/>
            <a:ext cx="11356379" cy="5478423"/>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The current evaluation is limited to 15 test cases from </a:t>
            </a:r>
            <a:r>
              <a:rPr lang="en-US" sz="1600" dirty="0" err="1">
                <a:latin typeface="Times New Roman" panose="02020603050405020304" pitchFamily="18" charset="0"/>
                <a:cs typeface="Times New Roman" panose="02020603050405020304" pitchFamily="18" charset="0"/>
              </a:rPr>
              <a:t>microSecEnD</a:t>
            </a:r>
            <a:r>
              <a:rPr lang="en-US" sz="1600" dirty="0">
                <a:latin typeface="Times New Roman" panose="02020603050405020304" pitchFamily="18" charset="0"/>
                <a:cs typeface="Times New Roman" panose="02020603050405020304" pitchFamily="18" charset="0"/>
              </a:rPr>
              <a:t>. Expanding to the full dataset would strengthen the statistical reliability of the per-STRIDE-category metrics. Additionally, the system relies on the </a:t>
            </a:r>
            <a:r>
              <a:rPr lang="en-US" sz="1600" dirty="0" err="1">
                <a:latin typeface="Times New Roman" panose="02020603050405020304" pitchFamily="18" charset="0"/>
                <a:cs typeface="Times New Roman" panose="02020603050405020304" pitchFamily="18" charset="0"/>
              </a:rPr>
              <a:t>Groq</a:t>
            </a:r>
            <a:r>
              <a:rPr lang="en-US" sz="1600" dirty="0">
                <a:latin typeface="Times New Roman" panose="02020603050405020304" pitchFamily="18" charset="0"/>
                <a:cs typeface="Times New Roman" panose="02020603050405020304" pitchFamily="18" charset="0"/>
              </a:rPr>
              <a:t> free tier, which introduces rate-limiting delays of 20–30 seconds under sequential load — a production deployment would benefit from a paid inference endpoint. The ground-truth labels used for evaluation were manually verified, introducing subjectivity for ambiguous threat cases particularly in the Repudiation and Denial of Service categories.</a:t>
            </a:r>
            <a:endParaRPr lang="en-US" sz="1600"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Future Scope:</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Expand evaluation to the full </a:t>
            </a:r>
            <a:r>
              <a:rPr lang="en-US" sz="1600" dirty="0" err="1">
                <a:latin typeface="Times New Roman" panose="02020603050405020304" pitchFamily="18" charset="0"/>
                <a:cs typeface="Times New Roman" panose="02020603050405020304" pitchFamily="18" charset="0"/>
              </a:rPr>
              <a:t>microSecEnD</a:t>
            </a:r>
            <a:r>
              <a:rPr lang="en-US" sz="1600" dirty="0">
                <a:latin typeface="Times New Roman" panose="02020603050405020304" pitchFamily="18" charset="0"/>
                <a:cs typeface="Times New Roman" panose="02020603050405020304" pitchFamily="18" charset="0"/>
              </a:rPr>
              <a:t> dataset (1,000+ DFDs) for statistically robust per-category metrics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Integrate a visual DFD diagram parser to accept image inputs, removing the requirement for JSON pre-formatting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Extend the output layer with a CVSS-style severity score per threat to enable risk </a:t>
            </a:r>
            <a:r>
              <a:rPr lang="en-US" sz="1600" dirty="0" err="1">
                <a:latin typeface="Times New Roman" panose="02020603050405020304" pitchFamily="18" charset="0"/>
                <a:cs typeface="Times New Roman" panose="02020603050405020304" pitchFamily="18" charset="0"/>
              </a:rPr>
              <a:t>prioritisation</a:t>
            </a:r>
            <a:r>
              <a:rPr lang="en-US" sz="1600" dirty="0">
                <a:latin typeface="Times New Roman" panose="02020603050405020304" pitchFamily="18" charset="0"/>
                <a:cs typeface="Times New Roman" panose="02020603050405020304" pitchFamily="18" charset="0"/>
              </a:rPr>
              <a:t> across large system architectures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 a CI/CD plugin that automatically runs </a:t>
            </a:r>
            <a:r>
              <a:rPr lang="en-US" sz="1600" dirty="0" err="1">
                <a:latin typeface="Times New Roman" panose="02020603050405020304" pitchFamily="18" charset="0"/>
                <a:cs typeface="Times New Roman" panose="02020603050405020304" pitchFamily="18" charset="0"/>
              </a:rPr>
              <a:t>SecureByDesign</a:t>
            </a:r>
            <a:r>
              <a:rPr lang="en-US" sz="1600" dirty="0">
                <a:latin typeface="Times New Roman" panose="02020603050405020304" pitchFamily="18" charset="0"/>
                <a:cs typeface="Times New Roman" panose="02020603050405020304" pitchFamily="18" charset="0"/>
              </a:rPr>
              <a:t> on every architecture diagram committed to a repository, embedding design-time security reasoning into the development workflow</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Evaluate the framework on DFDs from domains beyond microservices — IoT systems, cloud-native architectures, and automotive software — to assess </a:t>
            </a:r>
            <a:r>
              <a:rPr lang="en-US" sz="1600" dirty="0" err="1">
                <a:latin typeface="Times New Roman" panose="02020603050405020304" pitchFamily="18" charset="0"/>
                <a:cs typeface="Times New Roman" panose="02020603050405020304" pitchFamily="18" charset="0"/>
              </a:rPr>
              <a:t>generalisability</a:t>
            </a:r>
            <a:endParaRPr lang="en-US" sz="1600"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65284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CA834-D15E-EE8C-864F-6AA34A0E21AB}"/>
            </a:ext>
          </a:extLst>
        </p:cNvPr>
        <p:cNvGrpSpPr/>
        <p:nvPr/>
      </p:nvGrpSpPr>
      <p:grpSpPr>
        <a:xfrm>
          <a:off x="0" y="0"/>
          <a:ext cx="0" cy="0"/>
          <a:chOff x="0" y="0"/>
          <a:chExt cx="0" cy="0"/>
        </a:xfrm>
      </p:grpSpPr>
      <p:sp>
        <p:nvSpPr>
          <p:cNvPr id="4" name="Google Shape;166;p12">
            <a:extLst>
              <a:ext uri="{FF2B5EF4-FFF2-40B4-BE49-F238E27FC236}">
                <a16:creationId xmlns:a16="http://schemas.microsoft.com/office/drawing/2014/main" id="{ADC0EF17-FD39-1570-FE25-937FEDCC72BE}"/>
              </a:ext>
            </a:extLst>
          </p:cNvPr>
          <p:cNvSpPr/>
          <p:nvPr/>
        </p:nvSpPr>
        <p:spPr>
          <a:xfrm>
            <a:off x="369277" y="365125"/>
            <a:ext cx="11579469" cy="612775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TextBox 4">
            <a:extLst>
              <a:ext uri="{FF2B5EF4-FFF2-40B4-BE49-F238E27FC236}">
                <a16:creationId xmlns:a16="http://schemas.microsoft.com/office/drawing/2014/main" id="{5A9FAB75-40F5-878E-3974-1AC4AB2F9A02}"/>
              </a:ext>
            </a:extLst>
          </p:cNvPr>
          <p:cNvSpPr txBox="1"/>
          <p:nvPr/>
        </p:nvSpPr>
        <p:spPr>
          <a:xfrm>
            <a:off x="539496" y="603504"/>
            <a:ext cx="10515600" cy="59436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4C20E787-CEC5-2674-435D-EA752A4787EB}"/>
              </a:ext>
            </a:extLst>
          </p:cNvPr>
          <p:cNvSpPr txBox="1"/>
          <p:nvPr/>
        </p:nvSpPr>
        <p:spPr>
          <a:xfrm>
            <a:off x="466344" y="603504"/>
            <a:ext cx="10131552"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   CONCLUSION</a:t>
            </a:r>
          </a:p>
        </p:txBody>
      </p:sp>
      <p:sp>
        <p:nvSpPr>
          <p:cNvPr id="3" name="TextBox 2">
            <a:extLst>
              <a:ext uri="{FF2B5EF4-FFF2-40B4-BE49-F238E27FC236}">
                <a16:creationId xmlns:a16="http://schemas.microsoft.com/office/drawing/2014/main" id="{F316BC54-F3E4-D9D8-A7ED-3CB1971A690A}"/>
              </a:ext>
            </a:extLst>
          </p:cNvPr>
          <p:cNvSpPr txBox="1"/>
          <p:nvPr/>
        </p:nvSpPr>
        <p:spPr>
          <a:xfrm>
            <a:off x="466344" y="1197864"/>
            <a:ext cx="11356379" cy="4185761"/>
          </a:xfrm>
          <a:prstGeom prst="rect">
            <a:avLst/>
          </a:prstGeom>
          <a:noFill/>
        </p:spPr>
        <p:txBody>
          <a:bodyPr wrap="square" rtlCol="0">
            <a:sp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This project successfully designed and implemented </a:t>
            </a:r>
            <a:r>
              <a:rPr lang="en-US" sz="1800" dirty="0" err="1">
                <a:latin typeface="Times New Roman" panose="02020603050405020304" pitchFamily="18" charset="0"/>
                <a:cs typeface="Times New Roman" panose="02020603050405020304" pitchFamily="18" charset="0"/>
              </a:rPr>
              <a:t>SecureByDesign</a:t>
            </a:r>
            <a:r>
              <a:rPr lang="en-US" sz="1800" dirty="0">
                <a:latin typeface="Times New Roman" panose="02020603050405020304" pitchFamily="18" charset="0"/>
                <a:cs typeface="Times New Roman" panose="02020603050405020304" pitchFamily="18" charset="0"/>
              </a:rPr>
              <a:t> — an explainable, LLM-assisted architectural security reasoning framework that infers STRIDE threats from early-stage Data Flow Diagrams at design time. The system addresses a clearly identified research gap: no existing tool reasons about security risks from incomplete or partial DFDs, despite the fact that real-world design artifacts are almost always incomplete during the phases when security decisions are most impactful and least costly.</a:t>
            </a:r>
          </a:p>
          <a:p>
            <a:r>
              <a:rPr lang="en-US" sz="1800" dirty="0">
                <a:latin typeface="Times New Roman" panose="02020603050405020304" pitchFamily="18" charset="0"/>
                <a:cs typeface="Times New Roman" panose="02020603050405020304" pitchFamily="18" charset="0"/>
              </a:rPr>
              <a:t>The core pipeline — comprising a DFD parser, a few-shot prompt engineering engine, a </a:t>
            </a:r>
            <a:r>
              <a:rPr lang="en-US" sz="1800" dirty="0" err="1">
                <a:latin typeface="Times New Roman" panose="02020603050405020304" pitchFamily="18" charset="0"/>
                <a:cs typeface="Times New Roman" panose="02020603050405020304" pitchFamily="18" charset="0"/>
              </a:rPr>
              <a:t>Groq</a:t>
            </a:r>
            <a:r>
              <a:rPr lang="en-US" sz="1800" dirty="0">
                <a:latin typeface="Times New Roman" panose="02020603050405020304" pitchFamily="18" charset="0"/>
                <a:cs typeface="Times New Roman" panose="02020603050405020304" pitchFamily="18" charset="0"/>
              </a:rPr>
              <a:t> LLM inference layer, and a structured response validator — produces architect-facing threat reports covering all six STRIDE categories with confidence levels and natural language explanations. The system operates without model training, GPU compute, or proprietary software, running entirely on free-tier infrastructure.</a:t>
            </a:r>
          </a:p>
          <a:p>
            <a:r>
              <a:rPr lang="en-US" sz="1800" dirty="0">
                <a:latin typeface="Times New Roman" panose="02020603050405020304" pitchFamily="18" charset="0"/>
                <a:cs typeface="Times New Roman" panose="02020603050405020304" pitchFamily="18" charset="0"/>
              </a:rPr>
              <a:t>The degradation experiment empirically validates the novel contribution: as DFD completeness decreases from 100% to 12%, the system produces progressively lower-confidence findings rather than failing or refusing to analyze, demonstrating calibrated uncertainty reasoning that no prior tool provides.</a:t>
            </a:r>
          </a:p>
          <a:p>
            <a:endParaRPr lang="en-IN" dirty="0"/>
          </a:p>
        </p:txBody>
      </p:sp>
    </p:spTree>
    <p:extLst>
      <p:ext uri="{BB962C8B-B14F-4D97-AF65-F5344CB8AC3E}">
        <p14:creationId xmlns:p14="http://schemas.microsoft.com/office/powerpoint/2010/main" val="3308394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References and Citations Used </a:t>
            </a:r>
            <a:endParaRPr/>
          </a:p>
        </p:txBody>
      </p:sp>
      <p:sp>
        <p:nvSpPr>
          <p:cNvPr id="172" name="Google Shape;172;p13"/>
          <p:cNvSpPr txBox="1">
            <a:spLocks noGrp="1"/>
          </p:cNvSpPr>
          <p:nvPr>
            <p:ph type="body" idx="1"/>
          </p:nvPr>
        </p:nvSpPr>
        <p:spPr>
          <a:xfrm>
            <a:off x="852577" y="1798873"/>
            <a:ext cx="10702506"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000"/>
              <a:buNone/>
            </a:pPr>
            <a:r>
              <a:rPr lang="en-IN" sz="2000">
                <a:latin typeface="Times New Roman"/>
                <a:ea typeface="Times New Roman"/>
                <a:cs typeface="Times New Roman"/>
                <a:sym typeface="Times New Roman"/>
              </a:rPr>
              <a:t>[1] </a:t>
            </a:r>
            <a:r>
              <a:rPr lang="en-IN" sz="2000" u="sng">
                <a:solidFill>
                  <a:schemeClr val="hlink"/>
                </a:solidFill>
                <a:hlinkClick r:id="rId3"/>
              </a:rPr>
              <a:t>S. Yang, T. Wu, S. Liu, D. Nguyen, S. I. Jang, and A. Abuadbba, “ThreatModeling-LLM: Automating threat modeling using large language models for banking systems,” </a:t>
            </a:r>
            <a:r>
              <a:rPr lang="en-IN" sz="2000" i="1" u="sng">
                <a:solidFill>
                  <a:schemeClr val="hlink"/>
                </a:solidFill>
                <a:hlinkClick r:id="rId3"/>
              </a:rPr>
              <a:t>arXiv preprint arXiv:2411.17058</a:t>
            </a:r>
            <a:r>
              <a:rPr lang="en-IN" sz="2000" u="sng">
                <a:solidFill>
                  <a:schemeClr val="hlink"/>
                </a:solidFill>
                <a:hlinkClick r:id="rId3"/>
              </a:rPr>
              <a:t>, 2024.</a:t>
            </a:r>
            <a:endParaRPr sz="2000"/>
          </a:p>
          <a:p>
            <a:pPr marL="228600" lvl="0" indent="-22860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[2] </a:t>
            </a:r>
            <a:r>
              <a:rPr lang="en-IN" sz="2000" u="sng">
                <a:solidFill>
                  <a:schemeClr val="hlink"/>
                </a:solidFill>
                <a:hlinkClick r:id="rId4"/>
              </a:rPr>
              <a:t>N. S. Alghamdi, K. Alsubhi, and A. A. Alahmadi, “Explainable artificial intelligence models in intrusion detection systems,” </a:t>
            </a:r>
            <a:r>
              <a:rPr lang="en-IN" sz="2000" i="1" u="sng">
                <a:solidFill>
                  <a:schemeClr val="hlink"/>
                </a:solidFill>
                <a:hlinkClick r:id="rId4"/>
              </a:rPr>
              <a:t>Engineering Applications of Artificial Intelligence</a:t>
            </a:r>
            <a:r>
              <a:rPr lang="en-IN" sz="2000" u="sng">
                <a:solidFill>
                  <a:schemeClr val="hlink"/>
                </a:solidFill>
                <a:hlinkClick r:id="rId4"/>
              </a:rPr>
              <a:t>, vol. 130, p. 105794, 2025.</a:t>
            </a:r>
            <a:endParaRPr sz="2000"/>
          </a:p>
          <a:p>
            <a:pPr marL="228600" lvl="0" indent="-22860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[3] </a:t>
            </a:r>
            <a:r>
              <a:rPr lang="en-IN" sz="2000"/>
              <a:t> </a:t>
            </a:r>
            <a:r>
              <a:rPr lang="en-IN" sz="2000" u="sng">
                <a:solidFill>
                  <a:schemeClr val="hlink"/>
                </a:solidFill>
                <a:hlinkClick r:id="rId5"/>
              </a:rPr>
              <a:t>Iqbal H.S, H. Janicke, Ahmad M. and A. Gill and L. Maglaras “Explainable AI for cybersecurity automation, intelligence and trustworthiness,” </a:t>
            </a:r>
            <a:r>
              <a:rPr lang="en-IN" sz="2000" i="1" u="sng">
                <a:solidFill>
                  <a:schemeClr val="hlink"/>
                </a:solidFill>
                <a:hlinkClick r:id="rId5"/>
              </a:rPr>
              <a:t>Cognitive Systems Research</a:t>
            </a:r>
            <a:r>
              <a:rPr lang="en-IN" sz="2000" u="sng">
                <a:solidFill>
                  <a:schemeClr val="hlink"/>
                </a:solidFill>
                <a:hlinkClick r:id="rId5"/>
              </a:rPr>
              <a:t>, vol. 85, pp. 100–115, 2024.</a:t>
            </a:r>
            <a:endParaRPr sz="2000"/>
          </a:p>
          <a:p>
            <a:pPr marL="228600" lvl="0" indent="-22860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[4]</a:t>
            </a:r>
            <a:r>
              <a:rPr lang="en-IN" sz="2000"/>
              <a:t> </a:t>
            </a:r>
            <a:r>
              <a:rPr lang="en-IN" sz="1800" u="sng">
                <a:solidFill>
                  <a:schemeClr val="hlink"/>
                </a:solidFill>
                <a:hlinkClick r:id="rId6"/>
              </a:rPr>
              <a:t>Vincent Zibi Mohale and I.C. Obagbuwa</a:t>
            </a:r>
            <a:r>
              <a:rPr lang="en-IN" sz="2000" u="sng">
                <a:solidFill>
                  <a:schemeClr val="hlink"/>
                </a:solidFill>
                <a:hlinkClick r:id="rId6"/>
              </a:rPr>
              <a:t>, “Evaluating machine learning-based intrusion detection systems with explainable AI: Enhancing transparency and interpretability,” </a:t>
            </a:r>
            <a:r>
              <a:rPr lang="en-IN" sz="2000" i="1" u="sng">
                <a:solidFill>
                  <a:schemeClr val="hlink"/>
                </a:solidFill>
                <a:hlinkClick r:id="rId6"/>
              </a:rPr>
              <a:t>Frontiers in Computer Science</a:t>
            </a:r>
            <a:r>
              <a:rPr lang="en-IN" sz="2000" u="sng">
                <a:solidFill>
                  <a:schemeClr val="hlink"/>
                </a:solidFill>
                <a:hlinkClick r:id="rId6"/>
              </a:rPr>
              <a:t>, vol. 7, p. 1520741, 2025.</a:t>
            </a:r>
            <a:endParaRPr sz="20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[5] </a:t>
            </a:r>
            <a:r>
              <a:rPr lang="en-IN" sz="2000" u="sng">
                <a:solidFill>
                  <a:schemeClr val="hlink"/>
                </a:solidFill>
                <a:latin typeface="Times New Roman"/>
                <a:ea typeface="Times New Roman"/>
                <a:cs typeface="Times New Roman"/>
                <a:sym typeface="Times New Roman"/>
                <a:hlinkClick r:id="rId7"/>
              </a:rPr>
              <a:t>G. Rjoub, J. Bentahar, O.A. Wahab et al</a:t>
            </a:r>
            <a:r>
              <a:rPr lang="en-IN" sz="2000" u="sng">
                <a:solidFill>
                  <a:schemeClr val="hlink"/>
                </a:solidFill>
                <a:hlinkClick r:id="rId7"/>
              </a:rPr>
              <a:t>, “A survey on explainable artificial intelligence for cybersecurity,” </a:t>
            </a:r>
            <a:r>
              <a:rPr lang="en-IN" sz="2000" i="1" u="sng">
                <a:solidFill>
                  <a:schemeClr val="hlink"/>
                </a:solidFill>
                <a:hlinkClick r:id="rId7"/>
              </a:rPr>
              <a:t>IEEE Transactions on Network and Service Management</a:t>
            </a:r>
            <a:r>
              <a:rPr lang="en-IN" sz="2000" u="sng">
                <a:solidFill>
                  <a:schemeClr val="hlink"/>
                </a:solidFill>
                <a:hlinkClick r:id="rId7"/>
              </a:rPr>
              <a:t>, vol. 20, no. 4, pp. 3282–3301, 2023.</a:t>
            </a:r>
            <a:endParaRPr sz="2000"/>
          </a:p>
          <a:p>
            <a:pPr marL="228600" lvl="0" indent="-114300" algn="l" rtl="0">
              <a:lnSpc>
                <a:spcPct val="90000"/>
              </a:lnSpc>
              <a:spcBef>
                <a:spcPts val="1000"/>
              </a:spcBef>
              <a:spcAft>
                <a:spcPts val="0"/>
              </a:spcAft>
              <a:buClr>
                <a:schemeClr val="dk1"/>
              </a:buClr>
              <a:buSzPts val="1800"/>
              <a:buNone/>
            </a:pPr>
            <a:endParaRPr sz="1800">
              <a:latin typeface="Times New Roman"/>
              <a:ea typeface="Times New Roman"/>
              <a:cs typeface="Times New Roman"/>
              <a:sym typeface="Times New Roman"/>
            </a:endParaRPr>
          </a:p>
        </p:txBody>
      </p:sp>
      <p:sp>
        <p:nvSpPr>
          <p:cNvPr id="173" name="Google Shape;173;p13"/>
          <p:cNvSpPr/>
          <p:nvPr/>
        </p:nvSpPr>
        <p:spPr>
          <a:xfrm>
            <a:off x="232940" y="332100"/>
            <a:ext cx="11465100" cy="6193800"/>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13"/>
          <p:cNvSpPr/>
          <p:nvPr/>
        </p:nvSpPr>
        <p:spPr>
          <a:xfrm>
            <a:off x="0" y="0"/>
            <a:ext cx="12192000" cy="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1F1F1F"/>
              </a:buClr>
              <a:buSzPts val="1200"/>
              <a:buFont typeface="Arial"/>
              <a:buNone/>
            </a:pPr>
            <a:r>
              <a:rPr lang="en-IN" sz="1200" b="0" i="0" u="sng" strike="noStrike" cap="none">
                <a:solidFill>
                  <a:srgbClr val="1F1F1F"/>
                </a:solidFill>
                <a:latin typeface="Arial"/>
                <a:ea typeface="Arial"/>
                <a:cs typeface="Arial"/>
                <a:sym typeface="Arial"/>
                <a:hlinkClick r:id="rId8">
                  <a:extLst>
                    <a:ext uri="{A12FA001-AC4F-418D-AE19-62706E023703}">
                      <ahyp:hlinkClr xmlns:ahyp="http://schemas.microsoft.com/office/drawing/2018/hyperlinkcolor" val="tx"/>
                    </a:ext>
                  </a:extLst>
                </a:hlinkClick>
              </a:rPr>
              <a:t>Iqbal H. Sarker </a:t>
            </a:r>
            <a:r>
              <a:rPr lang="en-IN" sz="900" b="0" i="0" u="sng" strike="noStrike" cap="none" baseline="30000">
                <a:solidFill>
                  <a:srgbClr val="1F1F1F"/>
                </a:solidFill>
                <a:latin typeface="Arial"/>
                <a:ea typeface="Arial"/>
                <a:cs typeface="Arial"/>
                <a:sym typeface="Arial"/>
                <a:hlinkClick r:id="rId8">
                  <a:extLst>
                    <a:ext uri="{A12FA001-AC4F-418D-AE19-62706E023703}">
                      <ahyp:hlinkClr xmlns:ahyp="http://schemas.microsoft.com/office/drawing/2018/hyperlinkcolor" val="tx"/>
                    </a:ext>
                  </a:extLst>
                </a:hlinkClick>
              </a:rPr>
              <a:t>a</a:t>
            </a:r>
            <a:r>
              <a:rPr lang="en-IN" sz="1200" b="0" i="0" u="sng" strike="noStrike" cap="none">
                <a:solidFill>
                  <a:srgbClr val="1F1F1F"/>
                </a:solidFill>
                <a:latin typeface="Arial"/>
                <a:ea typeface="Arial"/>
                <a:cs typeface="Arial"/>
                <a:sym typeface="Arial"/>
                <a:hlinkClick r:id="rId8">
                  <a:extLst>
                    <a:ext uri="{A12FA001-AC4F-418D-AE19-62706E023703}">
                      <ahyp:hlinkClr xmlns:ahyp="http://schemas.microsoft.com/office/drawing/2018/hyperlinkcolor" val="tx"/>
                    </a:ext>
                  </a:extLst>
                </a:hlinkClick>
              </a:rPr>
              <a:t> </a:t>
            </a:r>
            <a:r>
              <a:rPr lang="en-IN" sz="900" b="0" i="0" u="sng" strike="noStrike" cap="none" baseline="30000">
                <a:solidFill>
                  <a:srgbClr val="1F1F1F"/>
                </a:solidFill>
                <a:latin typeface="Arial"/>
                <a:ea typeface="Arial"/>
                <a:cs typeface="Arial"/>
                <a:sym typeface="Arial"/>
                <a:hlinkClick r:id="rId8">
                  <a:extLst>
                    <a:ext uri="{A12FA001-AC4F-418D-AE19-62706E023703}">
                      <ahyp:hlinkClr xmlns:ahyp="http://schemas.microsoft.com/office/drawing/2018/hyperlinkcolor" val="tx"/>
                    </a:ext>
                  </a:extLst>
                </a:hlinkClick>
              </a:rPr>
              <a:t>b</a:t>
            </a:r>
            <a:r>
              <a:rPr lang="en-IN" sz="1200" b="0" i="0" u="none" strike="noStrike" cap="none">
                <a:solidFill>
                  <a:srgbClr val="1F1F1F"/>
                </a:solidFill>
                <a:latin typeface="Arial"/>
                <a:ea typeface="Arial"/>
                <a:cs typeface="Arial"/>
                <a:sym typeface="Arial"/>
              </a:rPr>
              <a:t>, </a:t>
            </a:r>
            <a:r>
              <a:rPr lang="en-IN" sz="1200" b="0" i="0" u="sng" strike="noStrike" cap="none">
                <a:solidFill>
                  <a:srgbClr val="1F1F1F"/>
                </a:solidFill>
                <a:latin typeface="Arial"/>
                <a:ea typeface="Arial"/>
                <a:cs typeface="Arial"/>
                <a:sym typeface="Arial"/>
                <a:hlinkClick r:id="rId9">
                  <a:extLst>
                    <a:ext uri="{A12FA001-AC4F-418D-AE19-62706E023703}">
                      <ahyp:hlinkClr xmlns:ahyp="http://schemas.microsoft.com/office/drawing/2018/hyperlinkcolor" val="tx"/>
                    </a:ext>
                  </a:extLst>
                </a:hlinkClick>
              </a:rPr>
              <a:t>Helge Janicke </a:t>
            </a:r>
            <a:r>
              <a:rPr lang="en-IN" sz="900" b="0" i="0" u="sng" strike="noStrike" cap="none" baseline="30000">
                <a:solidFill>
                  <a:srgbClr val="1F1F1F"/>
                </a:solidFill>
                <a:latin typeface="Arial"/>
                <a:ea typeface="Arial"/>
                <a:cs typeface="Arial"/>
                <a:sym typeface="Arial"/>
                <a:hlinkClick r:id="rId9">
                  <a:extLst>
                    <a:ext uri="{A12FA001-AC4F-418D-AE19-62706E023703}">
                      <ahyp:hlinkClr xmlns:ahyp="http://schemas.microsoft.com/office/drawing/2018/hyperlinkcolor" val="tx"/>
                    </a:ext>
                  </a:extLst>
                </a:hlinkClick>
              </a:rPr>
              <a:t>a</a:t>
            </a:r>
            <a:r>
              <a:rPr lang="en-IN" sz="1200" b="0" i="0" u="sng" strike="noStrike" cap="none">
                <a:solidFill>
                  <a:srgbClr val="1F1F1F"/>
                </a:solidFill>
                <a:latin typeface="Arial"/>
                <a:ea typeface="Arial"/>
                <a:cs typeface="Arial"/>
                <a:sym typeface="Arial"/>
                <a:hlinkClick r:id="rId9">
                  <a:extLst>
                    <a:ext uri="{A12FA001-AC4F-418D-AE19-62706E023703}">
                      <ahyp:hlinkClr xmlns:ahyp="http://schemas.microsoft.com/office/drawing/2018/hyperlinkcolor" val="tx"/>
                    </a:ext>
                  </a:extLst>
                </a:hlinkClick>
              </a:rPr>
              <a:t> </a:t>
            </a:r>
            <a:r>
              <a:rPr lang="en-IN" sz="900" b="0" i="0" u="sng" strike="noStrike" cap="none" baseline="30000">
                <a:solidFill>
                  <a:srgbClr val="1F1F1F"/>
                </a:solidFill>
                <a:latin typeface="Arial"/>
                <a:ea typeface="Arial"/>
                <a:cs typeface="Arial"/>
                <a:sym typeface="Arial"/>
                <a:hlinkClick r:id="rId9">
                  <a:extLst>
                    <a:ext uri="{A12FA001-AC4F-418D-AE19-62706E023703}">
                      <ahyp:hlinkClr xmlns:ahyp="http://schemas.microsoft.com/office/drawing/2018/hyperlinkcolor" val="tx"/>
                    </a:ext>
                  </a:extLst>
                </a:hlinkClick>
              </a:rPr>
              <a:t>b</a:t>
            </a:r>
            <a:r>
              <a:rPr lang="en-IN" sz="1200" b="0" i="0" u="none" strike="noStrike" cap="none">
                <a:solidFill>
                  <a:srgbClr val="1F1F1F"/>
                </a:solidFill>
                <a:latin typeface="Arial"/>
                <a:ea typeface="Arial"/>
                <a:cs typeface="Arial"/>
                <a:sym typeface="Arial"/>
              </a:rPr>
              <a:t>, , </a:t>
            </a:r>
            <a:r>
              <a:rPr lang="en-IN" sz="1200" b="0" i="0" u="sng" strike="noStrike" cap="none">
                <a:solidFill>
                  <a:srgbClr val="1F1F1F"/>
                </a:solidFill>
                <a:latin typeface="Arial"/>
                <a:ea typeface="Arial"/>
                <a:cs typeface="Arial"/>
                <a:sym typeface="Arial"/>
                <a:hlinkClick r:id="rId10">
                  <a:extLst>
                    <a:ext uri="{A12FA001-AC4F-418D-AE19-62706E023703}">
                      <ahyp:hlinkClr xmlns:ahyp="http://schemas.microsoft.com/office/drawing/2018/hyperlinkcolor" val="tx"/>
                    </a:ext>
                  </a:extLst>
                </a:hlinkClick>
              </a:rPr>
              <a:t>Asif Gill </a:t>
            </a:r>
            <a:r>
              <a:rPr lang="en-IN" sz="900" b="0" i="0" u="sng" strike="noStrike" cap="none" baseline="30000">
                <a:solidFill>
                  <a:srgbClr val="1F1F1F"/>
                </a:solidFill>
                <a:latin typeface="Arial"/>
                <a:ea typeface="Arial"/>
                <a:cs typeface="Arial"/>
                <a:sym typeface="Arial"/>
                <a:hlinkClick r:id="rId10">
                  <a:extLst>
                    <a:ext uri="{A12FA001-AC4F-418D-AE19-62706E023703}">
                      <ahyp:hlinkClr xmlns:ahyp="http://schemas.microsoft.com/office/drawing/2018/hyperlinkcolor" val="tx"/>
                    </a:ext>
                  </a:extLst>
                </a:hlinkClick>
              </a:rPr>
              <a:t>c</a:t>
            </a:r>
            <a:r>
              <a:rPr lang="en-IN" sz="1200" b="0" i="0" u="none" strike="noStrike" cap="none">
                <a:solidFill>
                  <a:srgbClr val="1F1F1F"/>
                </a:solidFill>
                <a:latin typeface="Arial"/>
                <a:ea typeface="Arial"/>
                <a:cs typeface="Arial"/>
                <a:sym typeface="Arial"/>
              </a:rPr>
              <a:t>, </a:t>
            </a:r>
            <a:r>
              <a:rPr lang="en-IN" sz="1200" b="0" i="0" u="sng" strike="noStrike" cap="none">
                <a:solidFill>
                  <a:srgbClr val="1F1F1F"/>
                </a:solidFill>
                <a:latin typeface="Arial"/>
                <a:ea typeface="Arial"/>
                <a:cs typeface="Arial"/>
                <a:sym typeface="Arial"/>
                <a:hlinkClick r:id="rId11">
                  <a:extLst>
                    <a:ext uri="{A12FA001-AC4F-418D-AE19-62706E023703}">
                      <ahyp:hlinkClr xmlns:ahyp="http://schemas.microsoft.com/office/drawing/2018/hyperlinkcolor" val="tx"/>
                    </a:ext>
                  </a:extLst>
                </a:hlinkClick>
              </a:rPr>
              <a:t>Leandros Maglaras </a:t>
            </a:r>
            <a:r>
              <a:rPr lang="en-IN" sz="800" b="0"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References and Citations Used </a:t>
            </a:r>
            <a:endParaRPr/>
          </a:p>
        </p:txBody>
      </p:sp>
      <p:sp>
        <p:nvSpPr>
          <p:cNvPr id="180" name="Google Shape;180;p14"/>
          <p:cNvSpPr txBox="1">
            <a:spLocks noGrp="1"/>
          </p:cNvSpPr>
          <p:nvPr>
            <p:ph type="body" idx="1"/>
          </p:nvPr>
        </p:nvSpPr>
        <p:spPr>
          <a:xfrm>
            <a:off x="708804" y="1698231"/>
            <a:ext cx="11162581" cy="479703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None/>
            </a:pPr>
            <a:endParaRPr sz="18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[6] </a:t>
            </a:r>
            <a:r>
              <a:rPr lang="en-IN" sz="2000" u="sng">
                <a:solidFill>
                  <a:schemeClr val="hlink"/>
                </a:solidFill>
                <a:latin typeface="Times New Roman"/>
                <a:ea typeface="Times New Roman"/>
                <a:cs typeface="Times New Roman"/>
                <a:sym typeface="Times New Roman"/>
                <a:hlinkClick r:id="rId3"/>
              </a:rPr>
              <a:t>W.S. Ismail</a:t>
            </a:r>
            <a:r>
              <a:rPr lang="en-IN" sz="2000" u="sng">
                <a:solidFill>
                  <a:schemeClr val="hlink"/>
                </a:solidFill>
                <a:hlinkClick r:id="rId3"/>
              </a:rPr>
              <a:t> “Threat detection and response using AI and NLP in cybersecurity,” </a:t>
            </a:r>
            <a:r>
              <a:rPr lang="en-IN" sz="2000" i="1" u="sng">
                <a:solidFill>
                  <a:schemeClr val="hlink"/>
                </a:solidFill>
                <a:hlinkClick r:id="rId3"/>
              </a:rPr>
              <a:t>Journal of Information Security</a:t>
            </a:r>
            <a:r>
              <a:rPr lang="en-IN" sz="2000" u="sng">
                <a:solidFill>
                  <a:schemeClr val="hlink"/>
                </a:solidFill>
                <a:hlinkClick r:id="rId3"/>
              </a:rPr>
              <a:t>, vol. 15, no. 1, pp. 13–28, 2024.</a:t>
            </a:r>
            <a:endParaRPr sz="2000"/>
          </a:p>
          <a:p>
            <a:pPr marL="228600" lvl="0" indent="-22860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[7]</a:t>
            </a:r>
            <a:r>
              <a:rPr lang="en-IN" sz="2000"/>
              <a:t> </a:t>
            </a:r>
            <a:r>
              <a:rPr lang="en-IN" sz="2000" u="sng">
                <a:solidFill>
                  <a:schemeClr val="hlink"/>
                </a:solidFill>
                <a:hlinkClick r:id="rId4"/>
              </a:rPr>
              <a:t>B. Wu, Chengje Liu, Zhiming Li et al, “Enhancing vulnerability detection via inter-procedural semantic analysis,” </a:t>
            </a:r>
            <a:r>
              <a:rPr lang="en-IN" sz="2000" i="1" u="sng">
                <a:solidFill>
                  <a:schemeClr val="hlink"/>
                </a:solidFill>
                <a:hlinkClick r:id="rId4"/>
              </a:rPr>
              <a:t>Proceedings of the ACM on Software Engineering</a:t>
            </a:r>
            <a:r>
              <a:rPr lang="en-IN" sz="2000" u="sng">
                <a:solidFill>
                  <a:schemeClr val="hlink"/>
                </a:solidFill>
                <a:hlinkClick r:id="rId4"/>
              </a:rPr>
              <a:t>, vol. 1, ICSE, pp. 1234–1256, 2025.</a:t>
            </a:r>
            <a:endParaRPr sz="20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[8] </a:t>
            </a:r>
            <a:r>
              <a:rPr lang="en-IN" sz="2000" u="sng">
                <a:solidFill>
                  <a:schemeClr val="hlink"/>
                </a:solidFill>
                <a:latin typeface="Times New Roman"/>
                <a:ea typeface="Times New Roman"/>
                <a:cs typeface="Times New Roman"/>
                <a:sym typeface="Times New Roman"/>
                <a:hlinkClick r:id="rId5"/>
              </a:rPr>
              <a:t>C.D. Xuan, T.T. Luong and M.C. Thanh</a:t>
            </a:r>
            <a:r>
              <a:rPr lang="en-IN" sz="2000" u="sng">
                <a:solidFill>
                  <a:schemeClr val="hlink"/>
                </a:solidFill>
                <a:hlinkClick r:id="rId5"/>
              </a:rPr>
              <a:t>, “Optimising source code vulnerability detection using deep learning and deep graph network,” </a:t>
            </a:r>
            <a:r>
              <a:rPr lang="en-IN" sz="2000" i="1" u="sng">
                <a:solidFill>
                  <a:schemeClr val="hlink"/>
                </a:solidFill>
                <a:hlinkClick r:id="rId5"/>
              </a:rPr>
              <a:t>Journal of Systems Architecture</a:t>
            </a:r>
            <a:r>
              <a:rPr lang="en-IN" sz="2000" u="sng">
                <a:solidFill>
                  <a:schemeClr val="hlink"/>
                </a:solidFill>
                <a:hlinkClick r:id="rId5"/>
              </a:rPr>
              <a:t>, vol. 152, p. 103456, 2025.</a:t>
            </a:r>
            <a:endParaRPr sz="2000"/>
          </a:p>
          <a:p>
            <a:pPr marL="228600" lvl="0" indent="-22860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[9] </a:t>
            </a:r>
            <a:r>
              <a:rPr lang="en-IN" sz="2000" u="sng">
                <a:solidFill>
                  <a:schemeClr val="hlink"/>
                </a:solidFill>
                <a:latin typeface="Times New Roman"/>
                <a:ea typeface="Times New Roman"/>
                <a:cs typeface="Times New Roman"/>
                <a:sym typeface="Times New Roman"/>
                <a:hlinkClick r:id="rId6"/>
              </a:rPr>
              <a:t>Z. Zhang, H.A Hamadi, E. Damiani et al.</a:t>
            </a:r>
            <a:r>
              <a:rPr lang="en-IN" sz="2000" u="sng">
                <a:solidFill>
                  <a:schemeClr val="hlink"/>
                </a:solidFill>
                <a:hlinkClick r:id="rId6"/>
              </a:rPr>
              <a:t>, “Explainable artificial intelligence applications in cyber security: A comprehensive survey,” </a:t>
            </a:r>
            <a:r>
              <a:rPr lang="en-IN" sz="2000" i="1" u="sng">
                <a:solidFill>
                  <a:schemeClr val="hlink"/>
                </a:solidFill>
                <a:hlinkClick r:id="rId6"/>
              </a:rPr>
              <a:t>IEEE Access</a:t>
            </a:r>
            <a:r>
              <a:rPr lang="en-IN" sz="2000" u="sng">
                <a:solidFill>
                  <a:schemeClr val="hlink"/>
                </a:solidFill>
                <a:hlinkClick r:id="rId6"/>
              </a:rPr>
              <a:t>, vol. 11, pp. 98752–98764, 2023.</a:t>
            </a:r>
            <a:endParaRPr sz="2000"/>
          </a:p>
          <a:p>
            <a:pPr marL="228600" lvl="0" indent="-228600" algn="l" rtl="0">
              <a:lnSpc>
                <a:spcPct val="9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[10] </a:t>
            </a:r>
            <a:r>
              <a:rPr lang="en-IN" sz="2000" u="sng">
                <a:solidFill>
                  <a:schemeClr val="hlink"/>
                </a:solidFill>
                <a:latin typeface="Times New Roman"/>
                <a:ea typeface="Times New Roman"/>
                <a:cs typeface="Times New Roman"/>
                <a:sym typeface="Times New Roman"/>
                <a:hlinkClick r:id="rId7"/>
              </a:rPr>
              <a:t>X</a:t>
            </a:r>
            <a:r>
              <a:rPr lang="en-IN" sz="2000" u="sng">
                <a:solidFill>
                  <a:schemeClr val="hlink"/>
                </a:solidFill>
                <a:hlinkClick r:id="rId7"/>
              </a:rPr>
              <a:t>. Zhang et al “Graph neural networks in network security: From theoretical foundations to applications,” in </a:t>
            </a:r>
            <a:r>
              <a:rPr lang="en-IN" sz="2000" i="1" u="sng">
                <a:solidFill>
                  <a:schemeClr val="hlink"/>
                </a:solidFill>
                <a:hlinkClick r:id="rId7"/>
              </a:rPr>
              <a:t>Proceedings of the Americas Conference on Information Systems (AMCIS 2025)</a:t>
            </a:r>
            <a:r>
              <a:rPr lang="en-IN" sz="2000" u="sng">
                <a:solidFill>
                  <a:schemeClr val="hlink"/>
                </a:solidFill>
                <a:hlinkClick r:id="rId7"/>
              </a:rPr>
              <a:t>, </a:t>
            </a:r>
            <a:r>
              <a:rPr lang="en-IN" sz="2000"/>
              <a:t>2025.</a:t>
            </a:r>
            <a:endParaRPr/>
          </a:p>
          <a:p>
            <a:pPr marL="228600" lvl="0" indent="-228600" algn="l" rtl="0">
              <a:lnSpc>
                <a:spcPct val="90000"/>
              </a:lnSpc>
              <a:spcBef>
                <a:spcPts val="1000"/>
              </a:spcBef>
              <a:spcAft>
                <a:spcPts val="0"/>
              </a:spcAft>
              <a:buClr>
                <a:schemeClr val="dk1"/>
              </a:buClr>
              <a:buSzPts val="1800"/>
              <a:buNone/>
            </a:pP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a:latin typeface="Times New Roman"/>
              <a:ea typeface="Times New Roman"/>
              <a:cs typeface="Times New Roman"/>
              <a:sym typeface="Times New Roman"/>
            </a:endParaRPr>
          </a:p>
          <a:p>
            <a:pPr marL="228600" lvl="0" indent="-114300" algn="l" rtl="0">
              <a:lnSpc>
                <a:spcPct val="90000"/>
              </a:lnSpc>
              <a:spcBef>
                <a:spcPts val="1000"/>
              </a:spcBef>
              <a:spcAft>
                <a:spcPts val="0"/>
              </a:spcAft>
              <a:buClr>
                <a:schemeClr val="dk1"/>
              </a:buClr>
              <a:buSzPts val="1800"/>
              <a:buNone/>
            </a:pPr>
            <a:endParaRPr sz="1800">
              <a:latin typeface="Times New Roman"/>
              <a:ea typeface="Times New Roman"/>
              <a:cs typeface="Times New Roman"/>
              <a:sym typeface="Times New Roman"/>
            </a:endParaRPr>
          </a:p>
        </p:txBody>
      </p:sp>
      <p:sp>
        <p:nvSpPr>
          <p:cNvPr id="181" name="Google Shape;181;p14"/>
          <p:cNvSpPr/>
          <p:nvPr/>
        </p:nvSpPr>
        <p:spPr>
          <a:xfrm>
            <a:off x="325315" y="298938"/>
            <a:ext cx="11465170" cy="6193937"/>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4441</Words>
  <Application>Microsoft Office PowerPoint</Application>
  <PresentationFormat>Widescreen</PresentationFormat>
  <Paragraphs>380</Paragraphs>
  <Slides>23</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Noto Sans Symbols</vt:lpstr>
      <vt:lpstr>Times New Roman</vt:lpstr>
      <vt:lpstr>Office Theme</vt:lpstr>
      <vt:lpstr>PowerPoint Presentation</vt:lpstr>
      <vt:lpstr>PowerPoint Presentation</vt:lpstr>
      <vt:lpstr>   Introduction </vt:lpstr>
      <vt:lpstr>Literature Survey</vt:lpstr>
      <vt:lpstr>Literature Survey</vt:lpstr>
      <vt:lpstr>Literature Survey</vt:lpstr>
      <vt:lpstr>Literature Survey</vt:lpstr>
      <vt:lpstr>Summary (Based on Literature Survey):</vt:lpstr>
      <vt:lpstr>Research Gap</vt:lpstr>
      <vt:lpstr>Motivation</vt:lpstr>
      <vt:lpstr>Problem Statement</vt:lpstr>
      <vt:lpstr>Dataset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and Citations Used </vt:lpstr>
      <vt:lpstr>References and Citations Used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Nithin Polimera</dc:creator>
  <cp:lastModifiedBy>pranav putrevu</cp:lastModifiedBy>
  <cp:revision>3</cp:revision>
  <dcterms:created xsi:type="dcterms:W3CDTF">2024-09-16T06:39:26Z</dcterms:created>
  <dcterms:modified xsi:type="dcterms:W3CDTF">2026-03-07T11:27:19Z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0x0101006CF51F216673614C96254206C02659BD</vt:lpwstr>
  </property>
</Properties>
</file>